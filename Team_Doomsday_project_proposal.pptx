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821"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Attack Success Rate (illustrative)</c:v>
                </c:pt>
              </c:strCache>
            </c:strRef>
          </c:tx>
          <c:spPr>
            <a:solidFill>
              <a:srgbClr val="2EC4B6"/>
            </a:solidFill>
            <a:effectLst/>
          </c:spPr>
          <c:invertIfNegative val="0"/>
          <c:dLbls>
            <c:numFmt formatCode="#,##0" sourceLinked="0"/>
            <c:spPr>
              <a:noFill/>
              <a:ln>
                <a:noFill/>
              </a:ln>
              <a:effectLst/>
            </c:spPr>
            <c:txPr>
              <a:bodyPr/>
              <a:lstStyle/>
              <a:p>
                <a:pPr>
                  <a:defRPr sz="1200" b="1"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Protection</c:v>
                </c:pt>
                <c:pt idx="1">
                  <c:v>Differential Privacy</c:v>
                </c:pt>
                <c:pt idx="2">
                  <c:v>Synthetic Data</c:v>
                </c:pt>
              </c:strCache>
            </c:strRef>
          </c:cat>
          <c:val>
            <c:numRef>
              <c:f>Sheet1!$B$2:$B$4</c:f>
              <c:numCache>
                <c:formatCode>General</c:formatCode>
                <c:ptCount val="3"/>
                <c:pt idx="0">
                  <c:v>82</c:v>
                </c:pt>
                <c:pt idx="1">
                  <c:v>34</c:v>
                </c:pt>
                <c:pt idx="2">
                  <c:v>27</c:v>
                </c:pt>
              </c:numCache>
            </c:numRef>
          </c:val>
          <c:extLst>
            <c:ext xmlns:c16="http://schemas.microsoft.com/office/drawing/2014/chart" uri="{C3380CC4-5D6E-409C-BE32-E72D297353CC}">
              <c16:uniqueId val="{00000000-7B44-4C7C-AC33-9D8931060DA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733"/>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9525" cap="flat">
              <a:solidFill>
                <a:srgbClr val="E8ECEF"/>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Success Rate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7"/>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9501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faculty. Introduce the team and course. State the tagline as the hook: even anonymized genomic data can often be traced back to a real person, and this project tests exactly how, and what defenses actually help.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alone should let someone understand the whole project. Walk through each of the four points briefly before diving into details in later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genomic data deserves special treatment, then walk the lifecycle diagram from collection through to potential re-identification, setting up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one: attack-side research. Emphasize the progression from early statistical re-identification (Homer 2008) through ML-based membership inference to the most recent 2025-2026 work on generative and language models for genomics.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defense-side literature, then anchor the review with the 23andMe incident. The bar summary on the right shows the balance of coverage across the three research areas.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you understand the field before proposing new work. PROVGEN is the closest prior example and a natural bridge into the gap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three gaps as a table, exactly as requested. Reassure the audience that this is framed at an appropriate course-project scale, not claimed as a novel research breakthrough.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dataset first, then the two attack techniques. The flow diagram at the bottom-right previews the demo: real data goes through an attack model, and we check whether the target is re-identified.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defenses conceptually before any results are shown, then connect back to 23andMe to keep the technical work grounded in a real incident.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with the faculty that the chart values shown are an illustrative framework for what will be measured, not real results yet, since the experiments have not been run. Then cover the tradeoff concept and the concrete deliverables.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narrative by summarizing exactly what the faculty should expect to see by the end of the project, keeping the scope realistic and clearly bounded.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from the faculty. Be ready to discuss dataset access, ethical handling of genomic data even from consenting OpenSNP contributors, and the timeline for running the attack/defense experiments.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pic>
        <p:nvPicPr>
          <p:cNvPr id="2" name="Image 0" descr="C:\Users\Borshon\Downloads\genomic presentation\icons\dna.png"/>
          <p:cNvPicPr>
            <a:picLocks noChangeAspect="1"/>
          </p:cNvPicPr>
          <p:nvPr/>
        </p:nvPicPr>
        <p:blipFill>
          <a:blip r:embed="rId3">
            <a:alphaModFix amt="22000"/>
          </a:blip>
          <a:stretch>
            <a:fillRect/>
          </a:stretch>
        </p:blipFill>
        <p:spPr>
          <a:xfrm>
            <a:off x="9147347" y="674404"/>
            <a:ext cx="5125051" cy="5125051"/>
          </a:xfrm>
          <a:prstGeom prst="rect">
            <a:avLst/>
          </a:prstGeom>
        </p:spPr>
      </p:pic>
      <p:sp>
        <p:nvSpPr>
          <p:cNvPr id="3" name="Text 0"/>
          <p:cNvSpPr/>
          <p:nvPr/>
        </p:nvSpPr>
        <p:spPr>
          <a:xfrm>
            <a:off x="822960" y="1234440"/>
            <a:ext cx="8229600" cy="365760"/>
          </a:xfrm>
          <a:prstGeom prst="rect">
            <a:avLst/>
          </a:prstGeom>
          <a:noFill/>
          <a:ln/>
        </p:spPr>
        <p:txBody>
          <a:bodyPr wrap="square" rtlCol="0" anchor="ctr"/>
          <a:lstStyle/>
          <a:p>
            <a:pPr marL="0" indent="0">
              <a:buNone/>
            </a:pPr>
            <a:r>
              <a:rPr lang="en-US" sz="1300" b="1" kern="0" spc="300" dirty="0">
                <a:solidFill>
                  <a:srgbClr val="2EC4B6"/>
                </a:solidFill>
                <a:latin typeface="Calibri" pitchFamily="34" charset="0"/>
                <a:ea typeface="Calibri" pitchFamily="34" charset="-122"/>
                <a:cs typeface="Calibri" pitchFamily="34" charset="-120"/>
              </a:rPr>
              <a:t>COMPUTER SECURITY ·  PROJECT PROPOSAL</a:t>
            </a:r>
            <a:endParaRPr lang="en-US" sz="1300" dirty="0"/>
          </a:p>
        </p:txBody>
      </p:sp>
      <p:sp>
        <p:nvSpPr>
          <p:cNvPr id="4" name="Text 1"/>
          <p:cNvSpPr/>
          <p:nvPr/>
        </p:nvSpPr>
        <p:spPr>
          <a:xfrm>
            <a:off x="777240" y="1691640"/>
            <a:ext cx="987552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Genomic Data Privacy</a:t>
            </a:r>
            <a:endParaRPr lang="en-US" sz="4400" dirty="0"/>
          </a:p>
        </p:txBody>
      </p:sp>
      <p:sp>
        <p:nvSpPr>
          <p:cNvPr id="5" name="Text 2"/>
          <p:cNvSpPr/>
          <p:nvPr/>
        </p:nvSpPr>
        <p:spPr>
          <a:xfrm>
            <a:off x="822960" y="2606040"/>
            <a:ext cx="8961120" cy="640080"/>
          </a:xfrm>
          <a:prstGeom prst="rect">
            <a:avLst/>
          </a:prstGeom>
          <a:noFill/>
          <a:ln/>
        </p:spPr>
        <p:txBody>
          <a:bodyPr wrap="square" rtlCol="0" anchor="ctr"/>
          <a:lstStyle/>
          <a:p>
            <a:pPr marL="0" indent="0">
              <a:buNone/>
            </a:pPr>
            <a:r>
              <a:rPr lang="en-US" sz="2000" dirty="0">
                <a:solidFill>
                  <a:srgbClr val="E8ECEF"/>
                </a:solidFill>
                <a:latin typeface="Calibri" pitchFamily="34" charset="0"/>
                <a:ea typeface="Calibri" pitchFamily="34" charset="-122"/>
                <a:cs typeface="Calibri" pitchFamily="34" charset="-120"/>
              </a:rPr>
              <a:t>Simulating Re-identification Attacks and Testing Privacy Defenses</a:t>
            </a:r>
            <a:endParaRPr lang="en-US" sz="2000" dirty="0"/>
          </a:p>
        </p:txBody>
      </p:sp>
      <p:sp>
        <p:nvSpPr>
          <p:cNvPr id="6" name="Shape 3"/>
          <p:cNvSpPr/>
          <p:nvPr/>
        </p:nvSpPr>
        <p:spPr>
          <a:xfrm>
            <a:off x="794919" y="3348692"/>
            <a:ext cx="5120640" cy="18288"/>
          </a:xfrm>
          <a:prstGeom prst="rect">
            <a:avLst/>
          </a:prstGeom>
          <a:solidFill>
            <a:srgbClr val="FFFFFF"/>
          </a:solidFill>
          <a:ln/>
        </p:spPr>
      </p:sp>
      <p:sp>
        <p:nvSpPr>
          <p:cNvPr id="7" name="Text 4"/>
          <p:cNvSpPr/>
          <p:nvPr/>
        </p:nvSpPr>
        <p:spPr>
          <a:xfrm>
            <a:off x="818550" y="3399581"/>
            <a:ext cx="7863840" cy="548640"/>
          </a:xfrm>
          <a:prstGeom prst="rect">
            <a:avLst/>
          </a:prstGeom>
          <a:noFill/>
          <a:ln/>
        </p:spPr>
        <p:txBody>
          <a:bodyPr wrap="square" rtlCol="0" anchor="ctr"/>
          <a:lstStyle/>
          <a:p>
            <a:pPr marL="0" indent="0">
              <a:buNone/>
            </a:pPr>
            <a:r>
              <a:rPr lang="en-US" sz="1600" i="1" dirty="0">
                <a:solidFill>
                  <a:srgbClr val="2EC4B6"/>
                </a:solidFill>
                <a:latin typeface="Cambria" pitchFamily="34" charset="0"/>
                <a:ea typeface="Cambria" pitchFamily="34" charset="-122"/>
                <a:cs typeface="Cambria" pitchFamily="34" charset="-120"/>
              </a:rPr>
              <a:t>"Can ‘anonymous’ genomic data really stay anonymous? We test it."</a:t>
            </a:r>
            <a:endParaRPr lang="en-US" sz="1600" dirty="0"/>
          </a:p>
        </p:txBody>
      </p:sp>
      <p:sp>
        <p:nvSpPr>
          <p:cNvPr id="10" name="Text 6"/>
          <p:cNvSpPr/>
          <p:nvPr/>
        </p:nvSpPr>
        <p:spPr>
          <a:xfrm>
            <a:off x="1623052" y="3934706"/>
            <a:ext cx="3669527" cy="548640"/>
          </a:xfrm>
          <a:prstGeom prst="rect">
            <a:avLst/>
          </a:prstGeom>
          <a:noFill/>
          <a:ln/>
        </p:spPr>
        <p:txBody>
          <a:bodyPr wrap="square" rtlCol="0" anchor="t"/>
          <a:lstStyle/>
          <a:p>
            <a:pPr marL="0" indent="0">
              <a:buNone/>
            </a:pPr>
            <a:r>
              <a:rPr lang="en-US" sz="3200" b="1" dirty="0">
                <a:solidFill>
                  <a:srgbClr val="2EC4B6"/>
                </a:solidFill>
                <a:latin typeface="Calibri" pitchFamily="34" charset="0"/>
                <a:ea typeface="Calibri" pitchFamily="34" charset="-122"/>
                <a:cs typeface="Calibri" pitchFamily="34" charset="-120"/>
              </a:rPr>
              <a:t>Team Doomsday</a:t>
            </a:r>
            <a:endParaRPr lang="en-US" sz="3200" dirty="0"/>
          </a:p>
        </p:txBody>
      </p:sp>
      <p:sp>
        <p:nvSpPr>
          <p:cNvPr id="17" name="Text 11"/>
          <p:cNvSpPr/>
          <p:nvPr/>
        </p:nvSpPr>
        <p:spPr>
          <a:xfrm>
            <a:off x="457200" y="6473952"/>
            <a:ext cx="5486400" cy="274320"/>
          </a:xfrm>
          <a:prstGeom prst="rect">
            <a:avLst/>
          </a:prstGeom>
          <a:noFill/>
          <a:ln/>
        </p:spPr>
        <p:txBody>
          <a:bodyPr wrap="square" rtlCol="0" anchor="ctr"/>
          <a:lstStyle/>
          <a:p>
            <a:pPr marL="0" indent="0">
              <a:buNone/>
            </a:pPr>
            <a:r>
              <a:rPr lang="en-US" sz="1000" dirty="0">
                <a:solidFill>
                  <a:srgbClr val="8FA3AF"/>
                </a:solidFill>
                <a:latin typeface="Calibri" pitchFamily="34" charset="0"/>
                <a:ea typeface="Calibri" pitchFamily="34" charset="-122"/>
                <a:cs typeface="Calibri" pitchFamily="34" charset="-120"/>
              </a:rPr>
              <a:t>Genomic Data Privacy Proposal</a:t>
            </a:r>
            <a:endParaRPr lang="en-US" sz="1000" dirty="0"/>
          </a:p>
        </p:txBody>
      </p:sp>
      <p:sp>
        <p:nvSpPr>
          <p:cNvPr id="18" name="Text 12"/>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8FA3AF"/>
                </a:solidFill>
                <a:latin typeface="Calibri" pitchFamily="34" charset="0"/>
                <a:ea typeface="Calibri" pitchFamily="34" charset="-122"/>
                <a:cs typeface="Calibri" pitchFamily="34" charset="-120"/>
              </a:rPr>
              <a:t>1</a:t>
            </a:r>
            <a:endParaRPr lang="en-US" sz="1000" dirty="0"/>
          </a:p>
        </p:txBody>
      </p:sp>
      <p:grpSp>
        <p:nvGrpSpPr>
          <p:cNvPr id="21" name="Group 20">
            <a:extLst>
              <a:ext uri="{FF2B5EF4-FFF2-40B4-BE49-F238E27FC236}">
                <a16:creationId xmlns:a16="http://schemas.microsoft.com/office/drawing/2014/main" id="{F5FCDE17-D2A1-0B5B-0666-3D6B14F89CC5}"/>
              </a:ext>
            </a:extLst>
          </p:cNvPr>
          <p:cNvGrpSpPr/>
          <p:nvPr/>
        </p:nvGrpSpPr>
        <p:grpSpPr>
          <a:xfrm>
            <a:off x="1285333" y="4487917"/>
            <a:ext cx="5462769" cy="640080"/>
            <a:chOff x="480831" y="4750307"/>
            <a:chExt cx="5462769" cy="640080"/>
          </a:xfrm>
        </p:grpSpPr>
        <p:grpSp>
          <p:nvGrpSpPr>
            <p:cNvPr id="19" name="Group 18">
              <a:extLst>
                <a:ext uri="{FF2B5EF4-FFF2-40B4-BE49-F238E27FC236}">
                  <a16:creationId xmlns:a16="http://schemas.microsoft.com/office/drawing/2014/main" id="{835CAE38-D2E0-5619-832A-72D950B49756}"/>
                </a:ext>
              </a:extLst>
            </p:cNvPr>
            <p:cNvGrpSpPr/>
            <p:nvPr/>
          </p:nvGrpSpPr>
          <p:grpSpPr>
            <a:xfrm>
              <a:off x="480831" y="4888064"/>
              <a:ext cx="364567" cy="364567"/>
              <a:chOff x="822960" y="4892040"/>
              <a:chExt cx="502920" cy="502920"/>
            </a:xfrm>
          </p:grpSpPr>
          <p:sp>
            <p:nvSpPr>
              <p:cNvPr id="8" name="Shape 5"/>
              <p:cNvSpPr/>
              <p:nvPr/>
            </p:nvSpPr>
            <p:spPr>
              <a:xfrm>
                <a:off x="822960" y="4892040"/>
                <a:ext cx="502920" cy="502920"/>
              </a:xfrm>
              <a:prstGeom prst="ellipse">
                <a:avLst/>
              </a:prstGeom>
              <a:solidFill>
                <a:srgbClr val="15263A"/>
              </a:solidFill>
              <a:ln/>
            </p:spPr>
          </p:sp>
          <p:pic>
            <p:nvPicPr>
              <p:cNvPr id="9" name="Image 1" descr="C:\Users\Borshon\Downloads\genomic presentation\icons\users.png"/>
              <p:cNvPicPr>
                <a:picLocks noChangeAspect="1"/>
              </p:cNvPicPr>
              <p:nvPr/>
            </p:nvPicPr>
            <p:blipFill>
              <a:blip r:embed="rId4"/>
              <a:stretch>
                <a:fillRect/>
              </a:stretch>
            </p:blipFill>
            <p:spPr>
              <a:xfrm>
                <a:off x="953719" y="5022799"/>
                <a:ext cx="241402" cy="241402"/>
              </a:xfrm>
              <a:prstGeom prst="rect">
                <a:avLst/>
              </a:prstGeom>
            </p:spPr>
          </p:pic>
        </p:grpSp>
        <p:sp>
          <p:nvSpPr>
            <p:cNvPr id="20" name="Text 2">
              <a:extLst>
                <a:ext uri="{FF2B5EF4-FFF2-40B4-BE49-F238E27FC236}">
                  <a16:creationId xmlns:a16="http://schemas.microsoft.com/office/drawing/2014/main" id="{696D1651-6E88-699C-1360-EA9511F78BEA}"/>
                </a:ext>
              </a:extLst>
            </p:cNvPr>
            <p:cNvSpPr/>
            <p:nvPr/>
          </p:nvSpPr>
          <p:spPr>
            <a:xfrm>
              <a:off x="818550" y="4750307"/>
              <a:ext cx="5125050" cy="640080"/>
            </a:xfrm>
            <a:prstGeom prst="rect">
              <a:avLst/>
            </a:prstGeom>
            <a:noFill/>
            <a:ln/>
          </p:spPr>
          <p:txBody>
            <a:bodyPr wrap="square" rtlCol="0" anchor="ctr"/>
            <a:lstStyle/>
            <a:p>
              <a:pPr marL="0" indent="0">
                <a:buNone/>
              </a:pPr>
              <a:r>
                <a:rPr lang="en-US" dirty="0">
                  <a:solidFill>
                    <a:srgbClr val="E8ECEF"/>
                  </a:solidFill>
                  <a:latin typeface="Calibri" pitchFamily="34" charset="0"/>
                  <a:ea typeface="Calibri" pitchFamily="34" charset="-122"/>
                  <a:cs typeface="Calibri" pitchFamily="34" charset="-120"/>
                </a:rPr>
                <a:t>Adnan Hossain Borshon (0112310246)</a:t>
              </a:r>
              <a:endParaRPr lang="en-US" dirty="0"/>
            </a:p>
          </p:txBody>
        </p:sp>
      </p:grpSp>
      <p:grpSp>
        <p:nvGrpSpPr>
          <p:cNvPr id="22" name="Group 21">
            <a:extLst>
              <a:ext uri="{FF2B5EF4-FFF2-40B4-BE49-F238E27FC236}">
                <a16:creationId xmlns:a16="http://schemas.microsoft.com/office/drawing/2014/main" id="{36E2AEDA-EB41-240B-6DCA-28771AE23634}"/>
              </a:ext>
            </a:extLst>
          </p:cNvPr>
          <p:cNvGrpSpPr/>
          <p:nvPr/>
        </p:nvGrpSpPr>
        <p:grpSpPr>
          <a:xfrm>
            <a:off x="1261702" y="5022842"/>
            <a:ext cx="5462769" cy="640080"/>
            <a:chOff x="480831" y="4750307"/>
            <a:chExt cx="5462769" cy="640080"/>
          </a:xfrm>
        </p:grpSpPr>
        <p:grpSp>
          <p:nvGrpSpPr>
            <p:cNvPr id="23" name="Group 22">
              <a:extLst>
                <a:ext uri="{FF2B5EF4-FFF2-40B4-BE49-F238E27FC236}">
                  <a16:creationId xmlns:a16="http://schemas.microsoft.com/office/drawing/2014/main" id="{E4006352-BF10-2A78-CE8A-D1418814EF81}"/>
                </a:ext>
              </a:extLst>
            </p:cNvPr>
            <p:cNvGrpSpPr/>
            <p:nvPr/>
          </p:nvGrpSpPr>
          <p:grpSpPr>
            <a:xfrm>
              <a:off x="480831" y="4888064"/>
              <a:ext cx="364567" cy="364567"/>
              <a:chOff x="822960" y="4892040"/>
              <a:chExt cx="502920" cy="502920"/>
            </a:xfrm>
          </p:grpSpPr>
          <p:sp>
            <p:nvSpPr>
              <p:cNvPr id="25" name="Shape 5">
                <a:extLst>
                  <a:ext uri="{FF2B5EF4-FFF2-40B4-BE49-F238E27FC236}">
                    <a16:creationId xmlns:a16="http://schemas.microsoft.com/office/drawing/2014/main" id="{A87BF989-F061-792E-8D3C-A1D179D8EF85}"/>
                  </a:ext>
                </a:extLst>
              </p:cNvPr>
              <p:cNvSpPr/>
              <p:nvPr/>
            </p:nvSpPr>
            <p:spPr>
              <a:xfrm>
                <a:off x="822960" y="4892040"/>
                <a:ext cx="502920" cy="502920"/>
              </a:xfrm>
              <a:prstGeom prst="ellipse">
                <a:avLst/>
              </a:prstGeom>
              <a:solidFill>
                <a:srgbClr val="15263A"/>
              </a:solidFill>
              <a:ln/>
            </p:spPr>
          </p:sp>
          <p:pic>
            <p:nvPicPr>
              <p:cNvPr id="26" name="Image 1" descr="C:\Users\Borshon\Downloads\genomic presentation\icons\users.png">
                <a:extLst>
                  <a:ext uri="{FF2B5EF4-FFF2-40B4-BE49-F238E27FC236}">
                    <a16:creationId xmlns:a16="http://schemas.microsoft.com/office/drawing/2014/main" id="{5B8451B3-89F2-A9BF-A2BC-0D123253B62A}"/>
                  </a:ext>
                </a:extLst>
              </p:cNvPr>
              <p:cNvPicPr>
                <a:picLocks noChangeAspect="1"/>
              </p:cNvPicPr>
              <p:nvPr/>
            </p:nvPicPr>
            <p:blipFill>
              <a:blip r:embed="rId4"/>
              <a:stretch>
                <a:fillRect/>
              </a:stretch>
            </p:blipFill>
            <p:spPr>
              <a:xfrm>
                <a:off x="953719" y="5022799"/>
                <a:ext cx="241402" cy="241402"/>
              </a:xfrm>
              <a:prstGeom prst="rect">
                <a:avLst/>
              </a:prstGeom>
            </p:spPr>
          </p:pic>
        </p:grpSp>
        <p:sp>
          <p:nvSpPr>
            <p:cNvPr id="24" name="Text 2">
              <a:extLst>
                <a:ext uri="{FF2B5EF4-FFF2-40B4-BE49-F238E27FC236}">
                  <a16:creationId xmlns:a16="http://schemas.microsoft.com/office/drawing/2014/main" id="{C461D689-67A1-72F5-95D1-8380ECCE9141}"/>
                </a:ext>
              </a:extLst>
            </p:cNvPr>
            <p:cNvSpPr/>
            <p:nvPr/>
          </p:nvSpPr>
          <p:spPr>
            <a:xfrm>
              <a:off x="818550" y="4750307"/>
              <a:ext cx="5125050" cy="640080"/>
            </a:xfrm>
            <a:prstGeom prst="rect">
              <a:avLst/>
            </a:prstGeom>
            <a:noFill/>
            <a:ln/>
          </p:spPr>
          <p:txBody>
            <a:bodyPr wrap="square" rtlCol="0" anchor="ctr"/>
            <a:lstStyle/>
            <a:p>
              <a:pPr marL="0" indent="0">
                <a:buNone/>
              </a:pPr>
              <a:r>
                <a:rPr lang="en-US" dirty="0">
                  <a:solidFill>
                    <a:srgbClr val="E8ECEF"/>
                  </a:solidFill>
                  <a:latin typeface="Calibri" pitchFamily="34" charset="0"/>
                  <a:cs typeface="Calibri" pitchFamily="34" charset="-120"/>
                </a:rPr>
                <a:t>Md. Rohan (0112310269)</a:t>
              </a:r>
              <a:endParaRPr lang="en-US" dirty="0"/>
            </a:p>
          </p:txBody>
        </p:sp>
      </p:grpSp>
      <p:grpSp>
        <p:nvGrpSpPr>
          <p:cNvPr id="27" name="Group 26">
            <a:extLst>
              <a:ext uri="{FF2B5EF4-FFF2-40B4-BE49-F238E27FC236}">
                <a16:creationId xmlns:a16="http://schemas.microsoft.com/office/drawing/2014/main" id="{640E6E48-CB11-A62D-C600-AF49108A268B}"/>
              </a:ext>
            </a:extLst>
          </p:cNvPr>
          <p:cNvGrpSpPr/>
          <p:nvPr/>
        </p:nvGrpSpPr>
        <p:grpSpPr>
          <a:xfrm>
            <a:off x="1236086" y="5566911"/>
            <a:ext cx="5462769" cy="640080"/>
            <a:chOff x="480831" y="4750307"/>
            <a:chExt cx="5462769" cy="640080"/>
          </a:xfrm>
        </p:grpSpPr>
        <p:grpSp>
          <p:nvGrpSpPr>
            <p:cNvPr id="28" name="Group 27">
              <a:extLst>
                <a:ext uri="{FF2B5EF4-FFF2-40B4-BE49-F238E27FC236}">
                  <a16:creationId xmlns:a16="http://schemas.microsoft.com/office/drawing/2014/main" id="{75EBBCAF-A808-BABE-DA2A-0AE6F3F97623}"/>
                </a:ext>
              </a:extLst>
            </p:cNvPr>
            <p:cNvGrpSpPr/>
            <p:nvPr/>
          </p:nvGrpSpPr>
          <p:grpSpPr>
            <a:xfrm>
              <a:off x="480831" y="4888064"/>
              <a:ext cx="364567" cy="364567"/>
              <a:chOff x="822960" y="4892040"/>
              <a:chExt cx="502920" cy="502920"/>
            </a:xfrm>
          </p:grpSpPr>
          <p:sp>
            <p:nvSpPr>
              <p:cNvPr id="30" name="Shape 5">
                <a:extLst>
                  <a:ext uri="{FF2B5EF4-FFF2-40B4-BE49-F238E27FC236}">
                    <a16:creationId xmlns:a16="http://schemas.microsoft.com/office/drawing/2014/main" id="{129099BE-EA46-23E5-AE62-F744C2469DDF}"/>
                  </a:ext>
                </a:extLst>
              </p:cNvPr>
              <p:cNvSpPr/>
              <p:nvPr/>
            </p:nvSpPr>
            <p:spPr>
              <a:xfrm>
                <a:off x="822960" y="4892040"/>
                <a:ext cx="502920" cy="502920"/>
              </a:xfrm>
              <a:prstGeom prst="ellipse">
                <a:avLst/>
              </a:prstGeom>
              <a:solidFill>
                <a:srgbClr val="15263A"/>
              </a:solidFill>
              <a:ln/>
            </p:spPr>
          </p:sp>
          <p:pic>
            <p:nvPicPr>
              <p:cNvPr id="31" name="Image 1" descr="C:\Users\Borshon\Downloads\genomic presentation\icons\users.png">
                <a:extLst>
                  <a:ext uri="{FF2B5EF4-FFF2-40B4-BE49-F238E27FC236}">
                    <a16:creationId xmlns:a16="http://schemas.microsoft.com/office/drawing/2014/main" id="{514CF3E3-A388-30E3-485D-5FCAA15513ED}"/>
                  </a:ext>
                </a:extLst>
              </p:cNvPr>
              <p:cNvPicPr>
                <a:picLocks noChangeAspect="1"/>
              </p:cNvPicPr>
              <p:nvPr/>
            </p:nvPicPr>
            <p:blipFill>
              <a:blip r:embed="rId4"/>
              <a:stretch>
                <a:fillRect/>
              </a:stretch>
            </p:blipFill>
            <p:spPr>
              <a:xfrm>
                <a:off x="953719" y="5022799"/>
                <a:ext cx="241402" cy="241402"/>
              </a:xfrm>
              <a:prstGeom prst="rect">
                <a:avLst/>
              </a:prstGeom>
            </p:spPr>
          </p:pic>
        </p:grpSp>
        <p:sp>
          <p:nvSpPr>
            <p:cNvPr id="29" name="Text 2">
              <a:extLst>
                <a:ext uri="{FF2B5EF4-FFF2-40B4-BE49-F238E27FC236}">
                  <a16:creationId xmlns:a16="http://schemas.microsoft.com/office/drawing/2014/main" id="{28208EFE-A729-316D-7B4E-A9B0ED9F595C}"/>
                </a:ext>
              </a:extLst>
            </p:cNvPr>
            <p:cNvSpPr/>
            <p:nvPr/>
          </p:nvSpPr>
          <p:spPr>
            <a:xfrm>
              <a:off x="818550" y="4750307"/>
              <a:ext cx="5125050" cy="640080"/>
            </a:xfrm>
            <a:prstGeom prst="rect">
              <a:avLst/>
            </a:prstGeom>
            <a:noFill/>
            <a:ln/>
          </p:spPr>
          <p:txBody>
            <a:bodyPr wrap="square" rtlCol="0" anchor="ctr"/>
            <a:lstStyle/>
            <a:p>
              <a:pPr marL="0" indent="0">
                <a:buNone/>
              </a:pPr>
              <a:r>
                <a:rPr lang="en-US" dirty="0">
                  <a:solidFill>
                    <a:srgbClr val="E8ECEF"/>
                  </a:solidFill>
                  <a:latin typeface="Calibri" pitchFamily="34" charset="0"/>
                  <a:ea typeface="Calibri" pitchFamily="34" charset="-122"/>
                  <a:cs typeface="Calibri" pitchFamily="34" charset="-120"/>
                </a:rPr>
                <a:t>Rahnuma Khan (0112310260) </a:t>
              </a: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PROJECT AT A GLANCE</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Summary of Our Work</a:t>
            </a:r>
            <a:endParaRPr lang="en-US" sz="4000" dirty="0"/>
          </a:p>
        </p:txBody>
      </p:sp>
      <p:sp>
        <p:nvSpPr>
          <p:cNvPr id="4" name="Shape 2"/>
          <p:cNvSpPr/>
          <p:nvPr/>
        </p:nvSpPr>
        <p:spPr>
          <a:xfrm>
            <a:off x="548640" y="1691640"/>
            <a:ext cx="5349240" cy="1737360"/>
          </a:xfrm>
          <a:prstGeom prst="roundRect">
            <a:avLst>
              <a:gd name="adj" fmla="val 4737"/>
            </a:avLst>
          </a:prstGeom>
          <a:solidFill>
            <a:srgbClr val="F4F6F7"/>
          </a:solidFill>
          <a:ln/>
        </p:spPr>
      </p:sp>
      <p:sp>
        <p:nvSpPr>
          <p:cNvPr id="5" name="Shape 3"/>
          <p:cNvSpPr/>
          <p:nvPr/>
        </p:nvSpPr>
        <p:spPr>
          <a:xfrm>
            <a:off x="822960" y="1965960"/>
            <a:ext cx="566928" cy="566928"/>
          </a:xfrm>
          <a:prstGeom prst="ellipse">
            <a:avLst/>
          </a:prstGeom>
          <a:solidFill>
            <a:srgbClr val="0D1B2A"/>
          </a:solidFill>
          <a:ln/>
        </p:spPr>
      </p:sp>
      <p:pic>
        <p:nvPicPr>
          <p:cNvPr id="6" name="Image 0" descr="C:\Users\Borshon\Downloads\genomic presentation\icons\dna_teal.png"/>
          <p:cNvPicPr>
            <a:picLocks noChangeAspect="1"/>
          </p:cNvPicPr>
          <p:nvPr/>
        </p:nvPicPr>
        <p:blipFill>
          <a:blip r:embed="rId3"/>
          <a:stretch>
            <a:fillRect/>
          </a:stretch>
        </p:blipFill>
        <p:spPr>
          <a:xfrm>
            <a:off x="970361" y="2113361"/>
            <a:ext cx="272125" cy="272125"/>
          </a:xfrm>
          <a:prstGeom prst="rect">
            <a:avLst/>
          </a:prstGeom>
        </p:spPr>
      </p:pic>
      <p:sp>
        <p:nvSpPr>
          <p:cNvPr id="7" name="Text 4"/>
          <p:cNvSpPr/>
          <p:nvPr/>
        </p:nvSpPr>
        <p:spPr>
          <a:xfrm>
            <a:off x="1389888" y="2071712"/>
            <a:ext cx="4069080" cy="3657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"Anonymous" isn’t always anonymous</a:t>
            </a:r>
            <a:endParaRPr lang="en-US" dirty="0"/>
          </a:p>
        </p:txBody>
      </p:sp>
      <p:sp>
        <p:nvSpPr>
          <p:cNvPr id="8" name="Text 5"/>
          <p:cNvSpPr/>
          <p:nvPr/>
        </p:nvSpPr>
        <p:spPr>
          <a:xfrm>
            <a:off x="822960" y="2620106"/>
            <a:ext cx="5074920" cy="100584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Genomic (DNA) data is often shared as anonymous, but it can still be traced back to a person.</a:t>
            </a:r>
            <a:endParaRPr lang="en-US" sz="1600" dirty="0"/>
          </a:p>
        </p:txBody>
      </p:sp>
      <p:sp>
        <p:nvSpPr>
          <p:cNvPr id="9" name="Shape 6"/>
          <p:cNvSpPr/>
          <p:nvPr/>
        </p:nvSpPr>
        <p:spPr>
          <a:xfrm>
            <a:off x="6355080" y="1691640"/>
            <a:ext cx="5349240" cy="1737360"/>
          </a:xfrm>
          <a:prstGeom prst="roundRect">
            <a:avLst>
              <a:gd name="adj" fmla="val 4737"/>
            </a:avLst>
          </a:prstGeom>
          <a:solidFill>
            <a:srgbClr val="F4F6F7"/>
          </a:solidFill>
          <a:ln/>
        </p:spPr>
      </p:sp>
      <p:sp>
        <p:nvSpPr>
          <p:cNvPr id="10" name="Shape 7"/>
          <p:cNvSpPr/>
          <p:nvPr/>
        </p:nvSpPr>
        <p:spPr>
          <a:xfrm>
            <a:off x="6629400" y="1965960"/>
            <a:ext cx="566928" cy="566928"/>
          </a:xfrm>
          <a:prstGeom prst="ellipse">
            <a:avLst/>
          </a:prstGeom>
          <a:solidFill>
            <a:srgbClr val="0D1B2A"/>
          </a:solidFill>
          <a:ln/>
        </p:spPr>
      </p:sp>
      <p:pic>
        <p:nvPicPr>
          <p:cNvPr id="11" name="Image 1" descr="C:\Users\Borshon\Downloads\genomic presentation\icons\search.png"/>
          <p:cNvPicPr>
            <a:picLocks noChangeAspect="1"/>
          </p:cNvPicPr>
          <p:nvPr/>
        </p:nvPicPr>
        <p:blipFill>
          <a:blip r:embed="rId3"/>
          <a:stretch>
            <a:fillRect/>
          </a:stretch>
        </p:blipFill>
        <p:spPr>
          <a:xfrm>
            <a:off x="6776801" y="2113361"/>
            <a:ext cx="272125" cy="272125"/>
          </a:xfrm>
          <a:prstGeom prst="rect">
            <a:avLst/>
          </a:prstGeom>
        </p:spPr>
      </p:pic>
      <p:sp>
        <p:nvSpPr>
          <p:cNvPr id="12" name="Text 8"/>
          <p:cNvSpPr/>
          <p:nvPr/>
        </p:nvSpPr>
        <p:spPr>
          <a:xfrm>
            <a:off x="7196328" y="2075688"/>
            <a:ext cx="4069080" cy="3657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We test re-identification on real data</a:t>
            </a:r>
            <a:endParaRPr lang="en-US" dirty="0"/>
          </a:p>
        </p:txBody>
      </p:sp>
      <p:sp>
        <p:nvSpPr>
          <p:cNvPr id="13" name="Text 9"/>
          <p:cNvSpPr/>
          <p:nvPr/>
        </p:nvSpPr>
        <p:spPr>
          <a:xfrm>
            <a:off x="6629400" y="2583180"/>
            <a:ext cx="5074920" cy="100584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Using real public genomic data (OpenSNP), we test how easily people can be re-identified with simple attacks.</a:t>
            </a:r>
            <a:endParaRPr lang="en-US" sz="1600" dirty="0"/>
          </a:p>
        </p:txBody>
      </p:sp>
      <p:sp>
        <p:nvSpPr>
          <p:cNvPr id="14" name="Shape 10"/>
          <p:cNvSpPr/>
          <p:nvPr/>
        </p:nvSpPr>
        <p:spPr>
          <a:xfrm>
            <a:off x="548640" y="3749040"/>
            <a:ext cx="5349240" cy="1737360"/>
          </a:xfrm>
          <a:prstGeom prst="roundRect">
            <a:avLst>
              <a:gd name="adj" fmla="val 4737"/>
            </a:avLst>
          </a:prstGeom>
          <a:solidFill>
            <a:srgbClr val="F4F6F7"/>
          </a:solidFill>
          <a:ln/>
        </p:spPr>
      </p:sp>
      <p:sp>
        <p:nvSpPr>
          <p:cNvPr id="15" name="Shape 11"/>
          <p:cNvSpPr/>
          <p:nvPr/>
        </p:nvSpPr>
        <p:spPr>
          <a:xfrm>
            <a:off x="822960" y="4023360"/>
            <a:ext cx="566928" cy="566928"/>
          </a:xfrm>
          <a:prstGeom prst="ellipse">
            <a:avLst/>
          </a:prstGeom>
          <a:solidFill>
            <a:srgbClr val="0D1B2A"/>
          </a:solidFill>
          <a:ln/>
        </p:spPr>
      </p:sp>
      <p:pic>
        <p:nvPicPr>
          <p:cNvPr id="16" name="Image 2" descr="C:\Users\Borshon\Downloads\genomic presentation\icons\shield.png"/>
          <p:cNvPicPr>
            <a:picLocks noChangeAspect="1"/>
          </p:cNvPicPr>
          <p:nvPr/>
        </p:nvPicPr>
        <p:blipFill>
          <a:blip r:embed="rId4"/>
          <a:stretch>
            <a:fillRect/>
          </a:stretch>
        </p:blipFill>
        <p:spPr>
          <a:xfrm>
            <a:off x="970361" y="4170761"/>
            <a:ext cx="272125" cy="272125"/>
          </a:xfrm>
          <a:prstGeom prst="rect">
            <a:avLst/>
          </a:prstGeom>
        </p:spPr>
      </p:pic>
      <p:sp>
        <p:nvSpPr>
          <p:cNvPr id="17" name="Text 12"/>
          <p:cNvSpPr/>
          <p:nvPr/>
        </p:nvSpPr>
        <p:spPr>
          <a:xfrm>
            <a:off x="1389888" y="4160520"/>
            <a:ext cx="4069080" cy="3657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We apply and measure two defenses</a:t>
            </a:r>
            <a:endParaRPr lang="en-US" dirty="0"/>
          </a:p>
        </p:txBody>
      </p:sp>
      <p:sp>
        <p:nvSpPr>
          <p:cNvPr id="18" name="Text 13"/>
          <p:cNvSpPr/>
          <p:nvPr/>
        </p:nvSpPr>
        <p:spPr>
          <a:xfrm>
            <a:off x="822960" y="4646249"/>
            <a:ext cx="5074920" cy="100584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Differential privacy and synthetic data are applied, and we measure how much each reduces re-identification risk.</a:t>
            </a:r>
            <a:endParaRPr lang="en-US" sz="1600" dirty="0"/>
          </a:p>
        </p:txBody>
      </p:sp>
      <p:sp>
        <p:nvSpPr>
          <p:cNvPr id="19" name="Shape 14"/>
          <p:cNvSpPr/>
          <p:nvPr/>
        </p:nvSpPr>
        <p:spPr>
          <a:xfrm>
            <a:off x="6355080" y="3749040"/>
            <a:ext cx="5349240" cy="1737360"/>
          </a:xfrm>
          <a:prstGeom prst="roundRect">
            <a:avLst>
              <a:gd name="adj" fmla="val 4737"/>
            </a:avLst>
          </a:prstGeom>
          <a:solidFill>
            <a:srgbClr val="F4F6F7"/>
          </a:solidFill>
          <a:ln/>
        </p:spPr>
      </p:sp>
      <p:sp>
        <p:nvSpPr>
          <p:cNvPr id="20" name="Shape 15"/>
          <p:cNvSpPr/>
          <p:nvPr/>
        </p:nvSpPr>
        <p:spPr>
          <a:xfrm>
            <a:off x="6629400" y="4023360"/>
            <a:ext cx="566928" cy="566928"/>
          </a:xfrm>
          <a:prstGeom prst="ellipse">
            <a:avLst/>
          </a:prstGeom>
          <a:solidFill>
            <a:srgbClr val="0D1B2A"/>
          </a:solidFill>
          <a:ln/>
        </p:spPr>
      </p:sp>
      <p:pic>
        <p:nvPicPr>
          <p:cNvPr id="21" name="Image 3" descr="C:\Users\Borshon\Downloads\genomic presentation\icons\alert.png"/>
          <p:cNvPicPr>
            <a:picLocks noChangeAspect="1"/>
          </p:cNvPicPr>
          <p:nvPr/>
        </p:nvPicPr>
        <p:blipFill>
          <a:blip r:embed="rId5"/>
          <a:stretch>
            <a:fillRect/>
          </a:stretch>
        </p:blipFill>
        <p:spPr>
          <a:xfrm>
            <a:off x="6776801" y="4170761"/>
            <a:ext cx="272125" cy="272125"/>
          </a:xfrm>
          <a:prstGeom prst="rect">
            <a:avLst/>
          </a:prstGeom>
        </p:spPr>
      </p:pic>
      <p:sp>
        <p:nvSpPr>
          <p:cNvPr id="22" name="Text 16"/>
          <p:cNvSpPr/>
          <p:nvPr/>
        </p:nvSpPr>
        <p:spPr>
          <a:xfrm>
            <a:off x="7196328" y="4133088"/>
            <a:ext cx="4069080" cy="3657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Grounded in a real breach</a:t>
            </a:r>
            <a:endParaRPr lang="en-US" dirty="0"/>
          </a:p>
        </p:txBody>
      </p:sp>
      <p:sp>
        <p:nvSpPr>
          <p:cNvPr id="23" name="Text 17"/>
          <p:cNvSpPr/>
          <p:nvPr/>
        </p:nvSpPr>
        <p:spPr>
          <a:xfrm>
            <a:off x="6629400" y="4646249"/>
            <a:ext cx="5074920" cy="100584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The 2023 23andMe data breach is used as a real-world example of why this problem matters today.</a:t>
            </a:r>
            <a:endParaRPr lang="en-US" sz="1600" dirty="0"/>
          </a:p>
        </p:txBody>
      </p:sp>
      <p:sp>
        <p:nvSpPr>
          <p:cNvPr id="24" name="Text 18"/>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Summary of Our Work</a:t>
            </a:r>
            <a:endParaRPr lang="en-US" sz="1000" dirty="0"/>
          </a:p>
        </p:txBody>
      </p:sp>
      <p:sp>
        <p:nvSpPr>
          <p:cNvPr id="25" name="Text 19"/>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26" name="Text 20"/>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735893"/>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Introduction</a:t>
            </a:r>
            <a:endParaRPr lang="en-US" sz="4000" dirty="0"/>
          </a:p>
        </p:txBody>
      </p:sp>
      <p:sp>
        <p:nvSpPr>
          <p:cNvPr id="5" name="Text 3"/>
          <p:cNvSpPr/>
          <p:nvPr/>
        </p:nvSpPr>
        <p:spPr>
          <a:xfrm>
            <a:off x="807720" y="1691640"/>
            <a:ext cx="5852160" cy="320040"/>
          </a:xfrm>
          <a:prstGeom prst="rect">
            <a:avLst/>
          </a:prstGeom>
          <a:noFill/>
          <a:ln/>
        </p:spPr>
        <p:txBody>
          <a:bodyPr wrap="square" rtlCol="0" anchor="t"/>
          <a:lstStyle/>
          <a:p>
            <a:pPr marL="0" indent="0">
              <a:buNone/>
            </a:pPr>
            <a:r>
              <a:rPr lang="en-US" sz="2400" b="1" dirty="0">
                <a:solidFill>
                  <a:srgbClr val="0D1B2A"/>
                </a:solidFill>
                <a:latin typeface="Calibri" pitchFamily="34" charset="0"/>
                <a:ea typeface="Calibri" pitchFamily="34" charset="-122"/>
                <a:cs typeface="Calibri" pitchFamily="34" charset="-120"/>
              </a:rPr>
              <a:t>Genomic data is not like other personal data</a:t>
            </a:r>
            <a:endParaRPr lang="en-US" sz="2400" dirty="0"/>
          </a:p>
        </p:txBody>
      </p:sp>
      <p:sp>
        <p:nvSpPr>
          <p:cNvPr id="6" name="Text 4"/>
          <p:cNvSpPr/>
          <p:nvPr/>
        </p:nvSpPr>
        <p:spPr>
          <a:xfrm>
            <a:off x="829851" y="2183229"/>
            <a:ext cx="5852160" cy="722376"/>
          </a:xfrm>
          <a:prstGeom prst="rect">
            <a:avLst/>
          </a:prstGeom>
          <a:noFill/>
          <a:ln/>
        </p:spPr>
        <p:txBody>
          <a:bodyPr wrap="square" rtlCol="0" anchor="t"/>
          <a:lstStyle/>
          <a:p>
            <a:pPr marL="0" indent="0">
              <a:lnSpc>
                <a:spcPct val="110000"/>
              </a:lnSpc>
              <a:buNone/>
            </a:pPr>
            <a:r>
              <a:rPr lang="en-US" dirty="0">
                <a:solidFill>
                  <a:srgbClr val="1B2733"/>
                </a:solidFill>
                <a:latin typeface="Calibri" pitchFamily="34" charset="0"/>
                <a:ea typeface="Calibri" pitchFamily="34" charset="-122"/>
                <a:cs typeface="Calibri" pitchFamily="34" charset="-120"/>
              </a:rPr>
              <a:t>It is permanent, it connects to blood relatives, and unlike a password, it can never be changed.</a:t>
            </a:r>
            <a:endParaRPr lang="en-US" dirty="0"/>
          </a:p>
        </p:txBody>
      </p:sp>
      <p:sp>
        <p:nvSpPr>
          <p:cNvPr id="8" name="Text 6"/>
          <p:cNvSpPr/>
          <p:nvPr/>
        </p:nvSpPr>
        <p:spPr>
          <a:xfrm>
            <a:off x="789432" y="3128315"/>
            <a:ext cx="5852160" cy="320040"/>
          </a:xfrm>
          <a:prstGeom prst="rect">
            <a:avLst/>
          </a:prstGeom>
          <a:noFill/>
          <a:ln/>
        </p:spPr>
        <p:txBody>
          <a:bodyPr wrap="square" rtlCol="0" anchor="t"/>
          <a:lstStyle/>
          <a:p>
            <a:pPr marL="0" indent="0">
              <a:buNone/>
            </a:pPr>
            <a:r>
              <a:rPr lang="en-US" sz="2400" b="1" dirty="0">
                <a:solidFill>
                  <a:srgbClr val="0D1B2A"/>
                </a:solidFill>
                <a:latin typeface="Calibri" pitchFamily="34" charset="0"/>
                <a:ea typeface="Calibri" pitchFamily="34" charset="-122"/>
                <a:cs typeface="Calibri" pitchFamily="34" charset="-120"/>
              </a:rPr>
              <a:t>"Anonymizing" DNA is harder than it looks</a:t>
            </a:r>
            <a:endParaRPr lang="en-US" sz="2400" dirty="0"/>
          </a:p>
        </p:txBody>
      </p:sp>
      <p:sp>
        <p:nvSpPr>
          <p:cNvPr id="9" name="Text 7"/>
          <p:cNvSpPr/>
          <p:nvPr/>
        </p:nvSpPr>
        <p:spPr>
          <a:xfrm>
            <a:off x="829851" y="3569787"/>
            <a:ext cx="5852160" cy="722376"/>
          </a:xfrm>
          <a:prstGeom prst="rect">
            <a:avLst/>
          </a:prstGeom>
          <a:noFill/>
          <a:ln/>
        </p:spPr>
        <p:txBody>
          <a:bodyPr wrap="square" rtlCol="0" anchor="t"/>
          <a:lstStyle/>
          <a:p>
            <a:pPr marL="0" indent="0">
              <a:lnSpc>
                <a:spcPct val="110000"/>
              </a:lnSpc>
              <a:buNone/>
            </a:pPr>
            <a:r>
              <a:rPr lang="en-US" dirty="0">
                <a:solidFill>
                  <a:srgbClr val="1B2733"/>
                </a:solidFill>
                <a:latin typeface="Calibri" pitchFamily="34" charset="0"/>
                <a:ea typeface="Calibri" pitchFamily="34" charset="-122"/>
                <a:cs typeface="Calibri" pitchFamily="34" charset="-120"/>
              </a:rPr>
              <a:t>Genetic markers are unique enough that simple anonymization is often not sufficient to protect identity.</a:t>
            </a:r>
            <a:endParaRPr lang="en-US" dirty="0"/>
          </a:p>
        </p:txBody>
      </p:sp>
      <p:sp>
        <p:nvSpPr>
          <p:cNvPr id="10" name="Shape 8"/>
          <p:cNvSpPr/>
          <p:nvPr/>
        </p:nvSpPr>
        <p:spPr>
          <a:xfrm>
            <a:off x="535321" y="4647934"/>
            <a:ext cx="113571" cy="1084920"/>
          </a:xfrm>
          <a:prstGeom prst="roundRect">
            <a:avLst>
              <a:gd name="adj" fmla="val 50000"/>
            </a:avLst>
          </a:prstGeom>
          <a:solidFill>
            <a:srgbClr val="2EC4B6"/>
          </a:solidFill>
          <a:ln/>
        </p:spPr>
      </p:sp>
      <p:sp>
        <p:nvSpPr>
          <p:cNvPr id="11" name="Text 9"/>
          <p:cNvSpPr/>
          <p:nvPr/>
        </p:nvSpPr>
        <p:spPr>
          <a:xfrm>
            <a:off x="829851" y="4609904"/>
            <a:ext cx="5852160" cy="320040"/>
          </a:xfrm>
          <a:prstGeom prst="rect">
            <a:avLst/>
          </a:prstGeom>
          <a:noFill/>
          <a:ln/>
        </p:spPr>
        <p:txBody>
          <a:bodyPr wrap="square" rtlCol="0" anchor="t"/>
          <a:lstStyle/>
          <a:p>
            <a:pPr marL="0" indent="0">
              <a:buNone/>
            </a:pPr>
            <a:r>
              <a:rPr lang="en-US" sz="2400" b="1" dirty="0">
                <a:solidFill>
                  <a:srgbClr val="0D1B2A"/>
                </a:solidFill>
                <a:latin typeface="Calibri" pitchFamily="34" charset="0"/>
                <a:ea typeface="Calibri" pitchFamily="34" charset="-122"/>
                <a:cs typeface="Calibri" pitchFamily="34" charset="-120"/>
              </a:rPr>
              <a:t>This affects a wide range of institutions</a:t>
            </a:r>
            <a:endParaRPr lang="en-US" sz="2400" dirty="0"/>
          </a:p>
        </p:txBody>
      </p:sp>
      <p:sp>
        <p:nvSpPr>
          <p:cNvPr id="12" name="Text 10"/>
          <p:cNvSpPr/>
          <p:nvPr/>
        </p:nvSpPr>
        <p:spPr>
          <a:xfrm>
            <a:off x="789432" y="5076559"/>
            <a:ext cx="5852160" cy="722376"/>
          </a:xfrm>
          <a:prstGeom prst="rect">
            <a:avLst/>
          </a:prstGeom>
          <a:noFill/>
          <a:ln/>
        </p:spPr>
        <p:txBody>
          <a:bodyPr wrap="square" rtlCol="0" anchor="t"/>
          <a:lstStyle/>
          <a:p>
            <a:pPr marL="0" indent="0">
              <a:lnSpc>
                <a:spcPct val="110000"/>
              </a:lnSpc>
              <a:buNone/>
            </a:pPr>
            <a:r>
              <a:rPr lang="en-US" dirty="0">
                <a:solidFill>
                  <a:srgbClr val="1B2733"/>
                </a:solidFill>
                <a:latin typeface="Calibri" pitchFamily="34" charset="0"/>
                <a:ea typeface="Calibri" pitchFamily="34" charset="-122"/>
                <a:cs typeface="Calibri" pitchFamily="34" charset="-120"/>
              </a:rPr>
              <a:t>DNA testing companies, medical researchers, insurers, and law enforcement all depend on genomic data today.</a:t>
            </a:r>
            <a:endParaRPr lang="en-US" dirty="0"/>
          </a:p>
        </p:txBody>
      </p:sp>
      <p:sp>
        <p:nvSpPr>
          <p:cNvPr id="17" name="Shape 14"/>
          <p:cNvSpPr/>
          <p:nvPr/>
        </p:nvSpPr>
        <p:spPr>
          <a:xfrm>
            <a:off x="6995160" y="1691640"/>
            <a:ext cx="4663440" cy="4160520"/>
          </a:xfrm>
          <a:prstGeom prst="roundRect">
            <a:avLst>
              <a:gd name="adj" fmla="val 1978"/>
            </a:avLst>
          </a:prstGeom>
          <a:solidFill>
            <a:srgbClr val="F4F6F7"/>
          </a:solidFill>
          <a:ln/>
        </p:spPr>
      </p:sp>
      <p:sp>
        <p:nvSpPr>
          <p:cNvPr id="18" name="Text 15"/>
          <p:cNvSpPr/>
          <p:nvPr/>
        </p:nvSpPr>
        <p:spPr>
          <a:xfrm>
            <a:off x="7269480" y="1874520"/>
            <a:ext cx="4114800" cy="320040"/>
          </a:xfrm>
          <a:prstGeom prst="rect">
            <a:avLst/>
          </a:prstGeom>
          <a:noFill/>
          <a:ln/>
        </p:spPr>
        <p:txBody>
          <a:bodyPr wrap="square" rtlCol="0" anchor="ctr"/>
          <a:lstStyle/>
          <a:p>
            <a:pPr marL="0" indent="0">
              <a:buNone/>
            </a:pPr>
            <a:r>
              <a:rPr lang="en-US" sz="1200" b="1" kern="0" spc="100" dirty="0">
                <a:solidFill>
                  <a:srgbClr val="5B6B77"/>
                </a:solidFill>
                <a:latin typeface="Calibri" pitchFamily="34" charset="0"/>
                <a:ea typeface="Calibri" pitchFamily="34" charset="-122"/>
                <a:cs typeface="Calibri" pitchFamily="34" charset="-120"/>
              </a:rPr>
              <a:t>GENOMIC DATA LIFECYCLE</a:t>
            </a:r>
            <a:endParaRPr lang="en-US" sz="1200" dirty="0"/>
          </a:p>
        </p:txBody>
      </p:sp>
      <p:sp>
        <p:nvSpPr>
          <p:cNvPr id="19" name="Shape 16"/>
          <p:cNvSpPr/>
          <p:nvPr/>
        </p:nvSpPr>
        <p:spPr>
          <a:xfrm>
            <a:off x="7269480" y="2331720"/>
            <a:ext cx="457200" cy="457200"/>
          </a:xfrm>
          <a:prstGeom prst="ellipse">
            <a:avLst/>
          </a:prstGeom>
          <a:solidFill>
            <a:srgbClr val="0D1B2A"/>
          </a:solidFill>
          <a:ln/>
        </p:spPr>
      </p:sp>
      <p:pic>
        <p:nvPicPr>
          <p:cNvPr id="20" name="Image 1" descr="C:\Users\Borshon\Downloads\genomic presentation\icons\users.png"/>
          <p:cNvPicPr>
            <a:picLocks noChangeAspect="1"/>
          </p:cNvPicPr>
          <p:nvPr/>
        </p:nvPicPr>
        <p:blipFill>
          <a:blip r:embed="rId3"/>
          <a:stretch>
            <a:fillRect/>
          </a:stretch>
        </p:blipFill>
        <p:spPr>
          <a:xfrm>
            <a:off x="7388352" y="2450592"/>
            <a:ext cx="219456" cy="219456"/>
          </a:xfrm>
          <a:prstGeom prst="rect">
            <a:avLst/>
          </a:prstGeom>
        </p:spPr>
      </p:pic>
      <p:sp>
        <p:nvSpPr>
          <p:cNvPr id="21" name="Text 17"/>
          <p:cNvSpPr/>
          <p:nvPr/>
        </p:nvSpPr>
        <p:spPr>
          <a:xfrm>
            <a:off x="7909560" y="2331720"/>
            <a:ext cx="3474720" cy="45720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Individual provides DNA sample</a:t>
            </a:r>
            <a:endParaRPr lang="en-US" sz="1600" b="1" dirty="0"/>
          </a:p>
        </p:txBody>
      </p:sp>
      <p:sp>
        <p:nvSpPr>
          <p:cNvPr id="22" name="Shape 18"/>
          <p:cNvSpPr/>
          <p:nvPr/>
        </p:nvSpPr>
        <p:spPr>
          <a:xfrm>
            <a:off x="7498080" y="2788920"/>
            <a:ext cx="0" cy="292608"/>
          </a:xfrm>
          <a:prstGeom prst="line">
            <a:avLst/>
          </a:prstGeom>
          <a:noFill/>
          <a:ln w="19050">
            <a:solidFill>
              <a:srgbClr val="B7C2C9"/>
            </a:solidFill>
            <a:prstDash val="dash"/>
          </a:ln>
        </p:spPr>
      </p:sp>
      <p:sp>
        <p:nvSpPr>
          <p:cNvPr id="23" name="Shape 19"/>
          <p:cNvSpPr/>
          <p:nvPr/>
        </p:nvSpPr>
        <p:spPr>
          <a:xfrm>
            <a:off x="7269480" y="3081528"/>
            <a:ext cx="457200" cy="457200"/>
          </a:xfrm>
          <a:prstGeom prst="ellipse">
            <a:avLst/>
          </a:prstGeom>
          <a:solidFill>
            <a:srgbClr val="0D1B2A"/>
          </a:solidFill>
          <a:ln/>
        </p:spPr>
      </p:sp>
      <p:pic>
        <p:nvPicPr>
          <p:cNvPr id="24" name="Image 2" descr="C:\Users\Borshon\Downloads\genomic presentation\icons\database.png"/>
          <p:cNvPicPr>
            <a:picLocks noChangeAspect="1"/>
          </p:cNvPicPr>
          <p:nvPr/>
        </p:nvPicPr>
        <p:blipFill>
          <a:blip r:embed="rId3"/>
          <a:stretch>
            <a:fillRect/>
          </a:stretch>
        </p:blipFill>
        <p:spPr>
          <a:xfrm>
            <a:off x="7388352" y="3200400"/>
            <a:ext cx="219456" cy="219456"/>
          </a:xfrm>
          <a:prstGeom prst="rect">
            <a:avLst/>
          </a:prstGeom>
        </p:spPr>
      </p:pic>
      <p:sp>
        <p:nvSpPr>
          <p:cNvPr id="25" name="Text 20"/>
          <p:cNvSpPr/>
          <p:nvPr/>
        </p:nvSpPr>
        <p:spPr>
          <a:xfrm>
            <a:off x="7909560" y="3081528"/>
            <a:ext cx="3474720" cy="45720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Company stores &amp; "anonymizes" data</a:t>
            </a:r>
            <a:endParaRPr lang="en-US" sz="1600" b="1" dirty="0"/>
          </a:p>
        </p:txBody>
      </p:sp>
      <p:sp>
        <p:nvSpPr>
          <p:cNvPr id="26" name="Shape 21"/>
          <p:cNvSpPr/>
          <p:nvPr/>
        </p:nvSpPr>
        <p:spPr>
          <a:xfrm>
            <a:off x="7498080" y="3538728"/>
            <a:ext cx="0" cy="292608"/>
          </a:xfrm>
          <a:prstGeom prst="line">
            <a:avLst/>
          </a:prstGeom>
          <a:noFill/>
          <a:ln w="19050">
            <a:solidFill>
              <a:srgbClr val="B7C2C9"/>
            </a:solidFill>
            <a:prstDash val="dash"/>
          </a:ln>
        </p:spPr>
      </p:sp>
      <p:sp>
        <p:nvSpPr>
          <p:cNvPr id="27" name="Shape 22"/>
          <p:cNvSpPr/>
          <p:nvPr/>
        </p:nvSpPr>
        <p:spPr>
          <a:xfrm>
            <a:off x="7269480" y="3831336"/>
            <a:ext cx="457200" cy="457200"/>
          </a:xfrm>
          <a:prstGeom prst="ellipse">
            <a:avLst/>
          </a:prstGeom>
          <a:solidFill>
            <a:srgbClr val="0D1B2A"/>
          </a:solidFill>
          <a:ln/>
        </p:spPr>
      </p:sp>
      <p:pic>
        <p:nvPicPr>
          <p:cNvPr id="28" name="Image 3" descr="C:\Users\Borshon\Downloads\genomic presentation\icons\gitbranch.png"/>
          <p:cNvPicPr>
            <a:picLocks noChangeAspect="1"/>
          </p:cNvPicPr>
          <p:nvPr/>
        </p:nvPicPr>
        <p:blipFill>
          <a:blip r:embed="rId3"/>
          <a:stretch>
            <a:fillRect/>
          </a:stretch>
        </p:blipFill>
        <p:spPr>
          <a:xfrm>
            <a:off x="7388352" y="3950208"/>
            <a:ext cx="219456" cy="219456"/>
          </a:xfrm>
          <a:prstGeom prst="rect">
            <a:avLst/>
          </a:prstGeom>
        </p:spPr>
      </p:pic>
      <p:sp>
        <p:nvSpPr>
          <p:cNvPr id="29" name="Text 23"/>
          <p:cNvSpPr/>
          <p:nvPr/>
        </p:nvSpPr>
        <p:spPr>
          <a:xfrm>
            <a:off x="7909560" y="3831336"/>
            <a:ext cx="3474720" cy="45720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Data shared for research / with partners</a:t>
            </a:r>
            <a:endParaRPr lang="en-US" sz="1600" b="1" dirty="0"/>
          </a:p>
        </p:txBody>
      </p:sp>
      <p:sp>
        <p:nvSpPr>
          <p:cNvPr id="30" name="Shape 24"/>
          <p:cNvSpPr/>
          <p:nvPr/>
        </p:nvSpPr>
        <p:spPr>
          <a:xfrm>
            <a:off x="7498080" y="4288536"/>
            <a:ext cx="0" cy="292608"/>
          </a:xfrm>
          <a:prstGeom prst="line">
            <a:avLst/>
          </a:prstGeom>
          <a:noFill/>
          <a:ln w="19050">
            <a:solidFill>
              <a:srgbClr val="B7C2C9"/>
            </a:solidFill>
            <a:prstDash val="dash"/>
          </a:ln>
        </p:spPr>
      </p:sp>
      <p:sp>
        <p:nvSpPr>
          <p:cNvPr id="31" name="Shape 25"/>
          <p:cNvSpPr/>
          <p:nvPr/>
        </p:nvSpPr>
        <p:spPr>
          <a:xfrm>
            <a:off x="7269480" y="4581144"/>
            <a:ext cx="457200" cy="457200"/>
          </a:xfrm>
          <a:prstGeom prst="ellipse">
            <a:avLst/>
          </a:prstGeom>
          <a:solidFill>
            <a:srgbClr val="0D1B2A"/>
          </a:solidFill>
          <a:ln/>
        </p:spPr>
      </p:sp>
      <p:pic>
        <p:nvPicPr>
          <p:cNvPr id="32" name="Image 4" descr="C:\Users\Borshon\Downloads\genomic presentation\icons\search.png"/>
          <p:cNvPicPr>
            <a:picLocks noChangeAspect="1"/>
          </p:cNvPicPr>
          <p:nvPr/>
        </p:nvPicPr>
        <p:blipFill>
          <a:blip r:embed="rId3"/>
          <a:stretch>
            <a:fillRect/>
          </a:stretch>
        </p:blipFill>
        <p:spPr>
          <a:xfrm>
            <a:off x="7388352" y="4700016"/>
            <a:ext cx="219456" cy="219456"/>
          </a:xfrm>
          <a:prstGeom prst="rect">
            <a:avLst/>
          </a:prstGeom>
        </p:spPr>
      </p:pic>
      <p:sp>
        <p:nvSpPr>
          <p:cNvPr id="33" name="Text 26"/>
          <p:cNvSpPr/>
          <p:nvPr/>
        </p:nvSpPr>
        <p:spPr>
          <a:xfrm>
            <a:off x="7909560" y="4581144"/>
            <a:ext cx="3474720" cy="45720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Attacker attempts re-identification</a:t>
            </a:r>
            <a:endParaRPr lang="en-US" sz="1600" b="1" dirty="0"/>
          </a:p>
        </p:txBody>
      </p:sp>
      <p:sp>
        <p:nvSpPr>
          <p:cNvPr id="34" name="Shape 27"/>
          <p:cNvSpPr/>
          <p:nvPr/>
        </p:nvSpPr>
        <p:spPr>
          <a:xfrm>
            <a:off x="7498080" y="5038344"/>
            <a:ext cx="0" cy="292608"/>
          </a:xfrm>
          <a:prstGeom prst="line">
            <a:avLst/>
          </a:prstGeom>
          <a:noFill/>
          <a:ln w="19050">
            <a:solidFill>
              <a:srgbClr val="B7C2C9"/>
            </a:solidFill>
            <a:prstDash val="dash"/>
          </a:ln>
        </p:spPr>
      </p:sp>
      <p:sp>
        <p:nvSpPr>
          <p:cNvPr id="35" name="Shape 28"/>
          <p:cNvSpPr/>
          <p:nvPr/>
        </p:nvSpPr>
        <p:spPr>
          <a:xfrm>
            <a:off x="7269480" y="5330952"/>
            <a:ext cx="457200" cy="457200"/>
          </a:xfrm>
          <a:prstGeom prst="ellipse">
            <a:avLst/>
          </a:prstGeom>
          <a:solidFill>
            <a:srgbClr val="9C3B2E"/>
          </a:solidFill>
          <a:ln/>
        </p:spPr>
      </p:sp>
      <p:pic>
        <p:nvPicPr>
          <p:cNvPr id="36" name="Image 5" descr="C:\Users\Borshon\Downloads\genomic presentation\icons\alert.png"/>
          <p:cNvPicPr>
            <a:picLocks noChangeAspect="1"/>
          </p:cNvPicPr>
          <p:nvPr/>
        </p:nvPicPr>
        <p:blipFill>
          <a:blip r:embed="rId4"/>
          <a:stretch>
            <a:fillRect/>
          </a:stretch>
        </p:blipFill>
        <p:spPr>
          <a:xfrm>
            <a:off x="7388352" y="5449824"/>
            <a:ext cx="219456" cy="219456"/>
          </a:xfrm>
          <a:prstGeom prst="rect">
            <a:avLst/>
          </a:prstGeom>
        </p:spPr>
      </p:pic>
      <p:sp>
        <p:nvSpPr>
          <p:cNvPr id="37" name="Text 29"/>
          <p:cNvSpPr/>
          <p:nvPr/>
        </p:nvSpPr>
        <p:spPr>
          <a:xfrm>
            <a:off x="7909560" y="5330952"/>
            <a:ext cx="3474720" cy="457200"/>
          </a:xfrm>
          <a:prstGeom prst="rect">
            <a:avLst/>
          </a:prstGeom>
          <a:noFill/>
          <a:ln/>
        </p:spPr>
        <p:txBody>
          <a:bodyPr wrap="square" rtlCol="0" anchor="ctr"/>
          <a:lstStyle/>
          <a:p>
            <a:pPr marL="0" indent="0">
              <a:buNone/>
            </a:pPr>
            <a:r>
              <a:rPr lang="en-US" sz="1600" b="1" dirty="0">
                <a:solidFill>
                  <a:srgbClr val="1B2733"/>
                </a:solidFill>
                <a:latin typeface="Calibri" pitchFamily="34" charset="0"/>
                <a:ea typeface="Calibri" pitchFamily="34" charset="-122"/>
                <a:cs typeface="Calibri" pitchFamily="34" charset="-120"/>
              </a:rPr>
              <a:t>Person’s identity potentially exposed</a:t>
            </a:r>
            <a:endParaRPr lang="en-US" sz="1600" b="1" dirty="0"/>
          </a:p>
        </p:txBody>
      </p:sp>
      <p:sp>
        <p:nvSpPr>
          <p:cNvPr id="38" name="Text 30"/>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Introduction</a:t>
            </a:r>
            <a:endParaRPr lang="en-US" sz="1000" dirty="0"/>
          </a:p>
        </p:txBody>
      </p:sp>
      <p:sp>
        <p:nvSpPr>
          <p:cNvPr id="39" name="Text 31"/>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40" name="Text 32"/>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3</a:t>
            </a:r>
            <a:endParaRPr lang="en-US" sz="1000" dirty="0"/>
          </a:p>
        </p:txBody>
      </p:sp>
      <p:sp>
        <p:nvSpPr>
          <p:cNvPr id="41" name="Shape 8">
            <a:extLst>
              <a:ext uri="{FF2B5EF4-FFF2-40B4-BE49-F238E27FC236}">
                <a16:creationId xmlns:a16="http://schemas.microsoft.com/office/drawing/2014/main" id="{746F70A6-3996-51CB-348B-70FFA8C69C58}"/>
              </a:ext>
            </a:extLst>
          </p:cNvPr>
          <p:cNvSpPr/>
          <p:nvPr/>
        </p:nvSpPr>
        <p:spPr>
          <a:xfrm>
            <a:off x="537772" y="3225506"/>
            <a:ext cx="113571" cy="1084920"/>
          </a:xfrm>
          <a:prstGeom prst="roundRect">
            <a:avLst>
              <a:gd name="adj" fmla="val 50000"/>
            </a:avLst>
          </a:prstGeom>
          <a:solidFill>
            <a:srgbClr val="2EC4B6"/>
          </a:solidFill>
          <a:ln/>
        </p:spPr>
      </p:sp>
      <p:sp>
        <p:nvSpPr>
          <p:cNvPr id="42" name="Shape 8">
            <a:extLst>
              <a:ext uri="{FF2B5EF4-FFF2-40B4-BE49-F238E27FC236}">
                <a16:creationId xmlns:a16="http://schemas.microsoft.com/office/drawing/2014/main" id="{356BDAB0-653F-3AF7-B83B-76D93335E8BF}"/>
              </a:ext>
            </a:extLst>
          </p:cNvPr>
          <p:cNvSpPr/>
          <p:nvPr/>
        </p:nvSpPr>
        <p:spPr>
          <a:xfrm>
            <a:off x="537772" y="1789260"/>
            <a:ext cx="113571" cy="1084920"/>
          </a:xfrm>
          <a:prstGeom prst="roundRect">
            <a:avLst>
              <a:gd name="adj" fmla="val 50000"/>
            </a:avLst>
          </a:prstGeom>
          <a:solidFill>
            <a:srgbClr val="2EC4B6"/>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LITERATURE REVIEW · PART 1 OF 2</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Re-identification &amp; Inference Attacks</a:t>
            </a:r>
            <a:endParaRPr lang="en-US" sz="4000" dirty="0"/>
          </a:p>
        </p:txBody>
      </p:sp>
      <p:graphicFrame>
        <p:nvGraphicFramePr>
          <p:cNvPr id="5" name="Table 0"/>
          <p:cNvGraphicFramePr>
            <a:graphicFrameLocks noGrp="1"/>
          </p:cNvGraphicFramePr>
          <p:nvPr>
            <p:extLst>
              <p:ext uri="{D42A27DB-BD31-4B8C-83A1-F6EECF244321}">
                <p14:modId xmlns:p14="http://schemas.microsoft.com/office/powerpoint/2010/main" val="1889449816"/>
              </p:ext>
            </p:extLst>
          </p:nvPr>
        </p:nvGraphicFramePr>
        <p:xfrm>
          <a:off x="548640" y="1691640"/>
          <a:ext cx="11064240" cy="4434840"/>
        </p:xfrm>
        <a:graphic>
          <a:graphicData uri="http://schemas.openxmlformats.org/drawingml/2006/table">
            <a:tbl>
              <a:tblPr/>
              <a:tblGrid>
                <a:gridCol w="2949934">
                  <a:extLst>
                    <a:ext uri="{9D8B030D-6E8A-4147-A177-3AD203B41FA5}">
                      <a16:colId xmlns:a16="http://schemas.microsoft.com/office/drawing/2014/main" val="20000"/>
                    </a:ext>
                  </a:extLst>
                </a:gridCol>
                <a:gridCol w="1073426">
                  <a:extLst>
                    <a:ext uri="{9D8B030D-6E8A-4147-A177-3AD203B41FA5}">
                      <a16:colId xmlns:a16="http://schemas.microsoft.com/office/drawing/2014/main" val="20001"/>
                    </a:ext>
                  </a:extLst>
                </a:gridCol>
                <a:gridCol w="7040880">
                  <a:extLst>
                    <a:ext uri="{9D8B030D-6E8A-4147-A177-3AD203B41FA5}">
                      <a16:colId xmlns:a16="http://schemas.microsoft.com/office/drawing/2014/main" val="20002"/>
                    </a:ext>
                  </a:extLst>
                </a:gridCol>
              </a:tblGrid>
              <a:tr h="502920">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Paper</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Year</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Key Contribution</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Homer et al.</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2008</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First to show individuals can be identified from aggregate genomic study data.</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Shokri et al.</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2017</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Introduced membership inference attacks against machine learning models.</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Chen, Wang &amp; Shi</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2020</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Studied membership inference risk specifically on genomic ML models.</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Ayoz, Ayday &amp; Cicek</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2021</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Showed genome data-sharing "beacons" can leak participant identity.</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Venkatesaramani</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2023</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PhD thesis on defending genomic data against membership inference.</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Belfiore et al.</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2025</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Hybrid membership inference attacks on generative genomic models.</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502920">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Memorization &amp; Privacy Risk Study</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733"/>
                          </a:solidFill>
                          <a:latin typeface="Calibri" pitchFamily="34" charset="0"/>
                          <a:ea typeface="Calibri" pitchFamily="34" charset="-122"/>
                          <a:cs typeface="Calibri" pitchFamily="34" charset="-120"/>
                        </a:rPr>
                        <a:t>2026</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733"/>
                          </a:solidFill>
                          <a:latin typeface="Calibri" pitchFamily="34" charset="0"/>
                          <a:ea typeface="Calibri" pitchFamily="34" charset="-122"/>
                          <a:cs typeface="Calibri" pitchFamily="34" charset="-120"/>
                        </a:rPr>
                        <a:t>Quantifies memorization/privacy risk in genomic language models.</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2"/>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Literature Review — Attacks</a:t>
            </a:r>
            <a:endParaRPr lang="en-US" sz="1000" dirty="0"/>
          </a:p>
        </p:txBody>
      </p:sp>
      <p:sp>
        <p:nvSpPr>
          <p:cNvPr id="6" name="Text 3"/>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7" name="Text 4"/>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LITERATURE REVIEW · PART 2 OF 2</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Defense Methods &amp; Real-World Case</a:t>
            </a:r>
            <a:endParaRPr lang="en-US" sz="4000" dirty="0"/>
          </a:p>
        </p:txBody>
      </p:sp>
      <p:sp>
        <p:nvSpPr>
          <p:cNvPr id="4" name="Text 2"/>
          <p:cNvSpPr/>
          <p:nvPr/>
        </p:nvSpPr>
        <p:spPr>
          <a:xfrm>
            <a:off x="548640" y="1567997"/>
            <a:ext cx="5486400" cy="292608"/>
          </a:xfrm>
          <a:prstGeom prst="rect">
            <a:avLst/>
          </a:prstGeom>
          <a:noFill/>
          <a:ln/>
        </p:spPr>
        <p:txBody>
          <a:bodyPr wrap="square" rtlCol="0" anchor="ctr"/>
          <a:lstStyle/>
          <a:p>
            <a:pPr marL="0" indent="0">
              <a:buNone/>
            </a:pPr>
            <a:r>
              <a:rPr lang="en-US" sz="1600" b="1" kern="0" spc="100" dirty="0">
                <a:solidFill>
                  <a:srgbClr val="1B8F84"/>
                </a:solidFill>
                <a:latin typeface="Calibri" pitchFamily="34" charset="0"/>
                <a:ea typeface="Calibri" pitchFamily="34" charset="-122"/>
                <a:cs typeface="Calibri" pitchFamily="34" charset="-120"/>
              </a:rPr>
              <a:t>DEFENSE METHODS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3621988612"/>
              </p:ext>
            </p:extLst>
          </p:nvPr>
        </p:nvGraphicFramePr>
        <p:xfrm>
          <a:off x="548640" y="1965960"/>
          <a:ext cx="5577840" cy="3672840"/>
        </p:xfrm>
        <a:graphic>
          <a:graphicData uri="http://schemas.openxmlformats.org/drawingml/2006/table">
            <a:tbl>
              <a:tblPr/>
              <a:tblGrid>
                <a:gridCol w="2138172">
                  <a:extLst>
                    <a:ext uri="{9D8B030D-6E8A-4147-A177-3AD203B41FA5}">
                      <a16:colId xmlns:a16="http://schemas.microsoft.com/office/drawing/2014/main" val="20000"/>
                    </a:ext>
                  </a:extLst>
                </a:gridCol>
                <a:gridCol w="650748">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tblGrid>
              <a:tr h="4114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Paper</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Contribution</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Chen, Wang &amp; Shi</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733"/>
                          </a:solidFill>
                          <a:latin typeface="Calibri" pitchFamily="34" charset="0"/>
                          <a:ea typeface="Calibri" pitchFamily="34" charset="-122"/>
                          <a:cs typeface="Calibri" pitchFamily="34" charset="-120"/>
                        </a:rPr>
                        <a:t>2020</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Differential privacy to protect against membership inference on genomic data.</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Federated Synthetic Data Gen.</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ctr">
                        <a:buNone/>
                      </a:pPr>
                      <a:r>
                        <a:rPr lang="en-US" sz="1400" dirty="0">
                          <a:solidFill>
                            <a:srgbClr val="1B2733"/>
                          </a:solidFill>
                          <a:latin typeface="Calibri" pitchFamily="34" charset="0"/>
                          <a:ea typeface="Calibri" pitchFamily="34" charset="-122"/>
                          <a:cs typeface="Calibri" pitchFamily="34" charset="-120"/>
                        </a:rPr>
                        <a:t>2021</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Combines federated learning with differentially private synthetic data.</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Generalized Genomic Sharing</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733"/>
                          </a:solidFill>
                          <a:latin typeface="Calibri" pitchFamily="34" charset="0"/>
                          <a:ea typeface="Calibri" pitchFamily="34" charset="-122"/>
                          <a:cs typeface="Calibri" pitchFamily="34" charset="-120"/>
                        </a:rPr>
                        <a:t>2022</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Differentially private federated learning for genomic data sharing.</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Bertoli et al.</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ctr">
                        <a:buNone/>
                      </a:pPr>
                      <a:r>
                        <a:rPr lang="en-US" sz="1400" dirty="0">
                          <a:solidFill>
                            <a:srgbClr val="1B2733"/>
                          </a:solidFill>
                          <a:latin typeface="Calibri" pitchFamily="34" charset="0"/>
                          <a:ea typeface="Calibri" pitchFamily="34" charset="-122"/>
                          <a:cs typeface="Calibri" pitchFamily="34" charset="-120"/>
                        </a:rPr>
                        <a:t>2025</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Evaluates DP vs. membership inference in the NIST Genomics Red Team Challenge.</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411480">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Federated Learning Security</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733"/>
                          </a:solidFill>
                          <a:latin typeface="Calibri" pitchFamily="34" charset="0"/>
                          <a:ea typeface="Calibri" pitchFamily="34" charset="-122"/>
                          <a:cs typeface="Calibri" pitchFamily="34" charset="-120"/>
                        </a:rPr>
                        <a:t>2025</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Secures genomic data against inference attacks in federated </a:t>
                      </a:r>
                      <a:r>
                        <a:rPr lang="en-US" sz="1600" dirty="0">
                          <a:solidFill>
                            <a:srgbClr val="1B2733"/>
                          </a:solidFill>
                          <a:latin typeface="Calibri" pitchFamily="34" charset="0"/>
                          <a:ea typeface="Calibri" pitchFamily="34" charset="-122"/>
                          <a:cs typeface="Calibri" pitchFamily="34" charset="-120"/>
                        </a:rPr>
                        <a:t>settings</a:t>
                      </a: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6400800" y="1645920"/>
            <a:ext cx="5212080" cy="4389120"/>
          </a:xfrm>
          <a:prstGeom prst="roundRect">
            <a:avLst>
              <a:gd name="adj" fmla="val 1875"/>
            </a:avLst>
          </a:prstGeom>
          <a:solidFill>
            <a:srgbClr val="F4F6F7"/>
          </a:solidFill>
          <a:ln/>
        </p:spPr>
        <p:txBody>
          <a:bodyPr/>
          <a:lstStyle/>
          <a:p>
            <a:endParaRPr lang="en-US" dirty="0"/>
          </a:p>
        </p:txBody>
      </p:sp>
      <p:grpSp>
        <p:nvGrpSpPr>
          <p:cNvPr id="29" name="Group 28">
            <a:extLst>
              <a:ext uri="{FF2B5EF4-FFF2-40B4-BE49-F238E27FC236}">
                <a16:creationId xmlns:a16="http://schemas.microsoft.com/office/drawing/2014/main" id="{A9ABBE5C-4B71-9A0F-8F09-F8F48CB00E31}"/>
              </a:ext>
            </a:extLst>
          </p:cNvPr>
          <p:cNvGrpSpPr/>
          <p:nvPr/>
        </p:nvGrpSpPr>
        <p:grpSpPr>
          <a:xfrm>
            <a:off x="6528816" y="2462171"/>
            <a:ext cx="5193792" cy="2211357"/>
            <a:chOff x="6675120" y="1828800"/>
            <a:chExt cx="4965192" cy="2002536"/>
          </a:xfrm>
        </p:grpSpPr>
        <p:sp>
          <p:nvSpPr>
            <p:cNvPr id="12" name="Text 8"/>
            <p:cNvSpPr/>
            <p:nvPr/>
          </p:nvSpPr>
          <p:spPr>
            <a:xfrm>
              <a:off x="6675120" y="1828800"/>
              <a:ext cx="4663440" cy="292608"/>
            </a:xfrm>
            <a:prstGeom prst="rect">
              <a:avLst/>
            </a:prstGeom>
            <a:noFill/>
            <a:ln/>
          </p:spPr>
          <p:txBody>
            <a:bodyPr wrap="square" rtlCol="0" anchor="ctr"/>
            <a:lstStyle/>
            <a:p>
              <a:pPr marL="0" indent="0">
                <a:buNone/>
              </a:pPr>
              <a:r>
                <a:rPr lang="en-US" sz="1600" b="1" kern="0" spc="100" dirty="0">
                  <a:solidFill>
                    <a:srgbClr val="5B6B77"/>
                  </a:solidFill>
                  <a:latin typeface="Calibri" pitchFamily="34" charset="0"/>
                  <a:ea typeface="Calibri" pitchFamily="34" charset="-122"/>
                  <a:cs typeface="Calibri" pitchFamily="34" charset="-120"/>
                </a:rPr>
                <a:t>LITERATURE COVERAGE</a:t>
              </a:r>
              <a:endParaRPr lang="en-US" sz="1600" dirty="0"/>
            </a:p>
          </p:txBody>
        </p:sp>
        <p:sp>
          <p:nvSpPr>
            <p:cNvPr id="13" name="Text 9"/>
            <p:cNvSpPr/>
            <p:nvPr/>
          </p:nvSpPr>
          <p:spPr>
            <a:xfrm>
              <a:off x="6675120" y="2331720"/>
              <a:ext cx="1920240" cy="365760"/>
            </a:xfrm>
            <a:prstGeom prst="rect">
              <a:avLst/>
            </a:prstGeom>
            <a:noFill/>
            <a:ln/>
          </p:spPr>
          <p:txBody>
            <a:bodyPr wrap="square" rtlCol="0" anchor="ctr"/>
            <a:lstStyle/>
            <a:p>
              <a:pPr marL="0" indent="0">
                <a:buNone/>
              </a:pPr>
              <a:r>
                <a:rPr lang="en-US" sz="1400" b="1" dirty="0">
                  <a:solidFill>
                    <a:srgbClr val="1B2733"/>
                  </a:solidFill>
                  <a:latin typeface="Calibri" pitchFamily="34" charset="0"/>
                  <a:ea typeface="Calibri" pitchFamily="34" charset="-122"/>
                  <a:cs typeface="Calibri" pitchFamily="34" charset="-120"/>
                </a:rPr>
                <a:t>Attacks &amp; Inference</a:t>
              </a:r>
              <a:endParaRPr lang="en-US" sz="1400" b="1" dirty="0"/>
            </a:p>
          </p:txBody>
        </p:sp>
        <p:sp>
          <p:nvSpPr>
            <p:cNvPr id="14" name="Shape 10"/>
            <p:cNvSpPr/>
            <p:nvPr/>
          </p:nvSpPr>
          <p:spPr>
            <a:xfrm>
              <a:off x="8641080" y="2386584"/>
              <a:ext cx="2468880" cy="256032"/>
            </a:xfrm>
            <a:prstGeom prst="roundRect">
              <a:avLst>
                <a:gd name="adj" fmla="val 17857"/>
              </a:avLst>
            </a:prstGeom>
            <a:solidFill>
              <a:srgbClr val="E8ECEF"/>
            </a:solidFill>
            <a:ln/>
          </p:spPr>
        </p:sp>
        <p:sp>
          <p:nvSpPr>
            <p:cNvPr id="15" name="Shape 11"/>
            <p:cNvSpPr/>
            <p:nvPr/>
          </p:nvSpPr>
          <p:spPr>
            <a:xfrm>
              <a:off x="8641080" y="2386584"/>
              <a:ext cx="2468880" cy="256032"/>
            </a:xfrm>
            <a:prstGeom prst="roundRect">
              <a:avLst>
                <a:gd name="adj" fmla="val 17857"/>
              </a:avLst>
            </a:prstGeom>
            <a:solidFill>
              <a:srgbClr val="2EC4B6"/>
            </a:solidFill>
            <a:ln/>
          </p:spPr>
        </p:sp>
        <p:sp>
          <p:nvSpPr>
            <p:cNvPr id="16" name="Text 12"/>
            <p:cNvSpPr/>
            <p:nvPr/>
          </p:nvSpPr>
          <p:spPr>
            <a:xfrm>
              <a:off x="11183112" y="2331720"/>
              <a:ext cx="457200" cy="36576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8</a:t>
              </a:r>
              <a:endParaRPr lang="en-US" sz="1200" dirty="0"/>
            </a:p>
          </p:txBody>
        </p:sp>
        <p:sp>
          <p:nvSpPr>
            <p:cNvPr id="17" name="Text 13"/>
            <p:cNvSpPr/>
            <p:nvPr/>
          </p:nvSpPr>
          <p:spPr>
            <a:xfrm>
              <a:off x="6675120" y="2898648"/>
              <a:ext cx="1920240" cy="365760"/>
            </a:xfrm>
            <a:prstGeom prst="rect">
              <a:avLst/>
            </a:prstGeom>
            <a:noFill/>
            <a:ln/>
          </p:spPr>
          <p:txBody>
            <a:bodyPr wrap="square" rtlCol="0" anchor="ctr"/>
            <a:lstStyle/>
            <a:p>
              <a:pPr marL="0" indent="0">
                <a:buNone/>
              </a:pPr>
              <a:r>
                <a:rPr lang="en-US" sz="1400" b="1" dirty="0">
                  <a:solidFill>
                    <a:srgbClr val="1B2733"/>
                  </a:solidFill>
                  <a:latin typeface="Calibri" pitchFamily="34" charset="0"/>
                  <a:ea typeface="Calibri" pitchFamily="34" charset="-122"/>
                  <a:cs typeface="Calibri" pitchFamily="34" charset="-120"/>
                </a:rPr>
                <a:t>Defense Methods</a:t>
              </a:r>
              <a:endParaRPr lang="en-US" sz="1400" b="1" dirty="0"/>
            </a:p>
          </p:txBody>
        </p:sp>
        <p:sp>
          <p:nvSpPr>
            <p:cNvPr id="18" name="Shape 14"/>
            <p:cNvSpPr/>
            <p:nvPr/>
          </p:nvSpPr>
          <p:spPr>
            <a:xfrm>
              <a:off x="8641080" y="2953512"/>
              <a:ext cx="2468880" cy="256032"/>
            </a:xfrm>
            <a:prstGeom prst="roundRect">
              <a:avLst>
                <a:gd name="adj" fmla="val 17857"/>
              </a:avLst>
            </a:prstGeom>
            <a:solidFill>
              <a:srgbClr val="E8ECEF"/>
            </a:solidFill>
            <a:ln/>
          </p:spPr>
        </p:sp>
        <p:sp>
          <p:nvSpPr>
            <p:cNvPr id="19" name="Shape 15"/>
            <p:cNvSpPr/>
            <p:nvPr/>
          </p:nvSpPr>
          <p:spPr>
            <a:xfrm>
              <a:off x="8641080" y="2953512"/>
              <a:ext cx="1543050" cy="256032"/>
            </a:xfrm>
            <a:prstGeom prst="roundRect">
              <a:avLst>
                <a:gd name="adj" fmla="val 17857"/>
              </a:avLst>
            </a:prstGeom>
            <a:solidFill>
              <a:srgbClr val="1B8F84"/>
            </a:solidFill>
            <a:ln/>
          </p:spPr>
        </p:sp>
        <p:sp>
          <p:nvSpPr>
            <p:cNvPr id="20" name="Text 16"/>
            <p:cNvSpPr/>
            <p:nvPr/>
          </p:nvSpPr>
          <p:spPr>
            <a:xfrm>
              <a:off x="11183112" y="2898648"/>
              <a:ext cx="457200" cy="36576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5</a:t>
              </a:r>
              <a:endParaRPr lang="en-US" sz="1200" dirty="0"/>
            </a:p>
          </p:txBody>
        </p:sp>
        <p:sp>
          <p:nvSpPr>
            <p:cNvPr id="21" name="Text 17"/>
            <p:cNvSpPr/>
            <p:nvPr/>
          </p:nvSpPr>
          <p:spPr>
            <a:xfrm>
              <a:off x="6675120" y="3465576"/>
              <a:ext cx="1920240" cy="365760"/>
            </a:xfrm>
            <a:prstGeom prst="rect">
              <a:avLst/>
            </a:prstGeom>
            <a:noFill/>
            <a:ln/>
          </p:spPr>
          <p:txBody>
            <a:bodyPr wrap="square" rtlCol="0" anchor="ctr"/>
            <a:lstStyle/>
            <a:p>
              <a:pPr marL="0" indent="0">
                <a:buNone/>
              </a:pPr>
              <a:r>
                <a:rPr lang="en-US" sz="1400" b="1" dirty="0">
                  <a:solidFill>
                    <a:srgbClr val="1B2733"/>
                  </a:solidFill>
                  <a:latin typeface="Calibri" pitchFamily="34" charset="0"/>
                  <a:ea typeface="Calibri" pitchFamily="34" charset="-122"/>
                  <a:cs typeface="Calibri" pitchFamily="34" charset="-120"/>
                </a:rPr>
                <a:t>Real-World Incidents</a:t>
              </a:r>
              <a:endParaRPr lang="en-US" sz="1400" b="1" dirty="0"/>
            </a:p>
          </p:txBody>
        </p:sp>
        <p:sp>
          <p:nvSpPr>
            <p:cNvPr id="22" name="Shape 18"/>
            <p:cNvSpPr/>
            <p:nvPr/>
          </p:nvSpPr>
          <p:spPr>
            <a:xfrm>
              <a:off x="8641080" y="3520440"/>
              <a:ext cx="2468880" cy="256032"/>
            </a:xfrm>
            <a:prstGeom prst="roundRect">
              <a:avLst>
                <a:gd name="adj" fmla="val 17857"/>
              </a:avLst>
            </a:prstGeom>
            <a:solidFill>
              <a:srgbClr val="E8ECEF"/>
            </a:solidFill>
            <a:ln/>
          </p:spPr>
        </p:sp>
        <p:sp>
          <p:nvSpPr>
            <p:cNvPr id="23" name="Shape 19"/>
            <p:cNvSpPr/>
            <p:nvPr/>
          </p:nvSpPr>
          <p:spPr>
            <a:xfrm>
              <a:off x="8641080" y="3520440"/>
              <a:ext cx="1851660" cy="256032"/>
            </a:xfrm>
            <a:prstGeom prst="roundRect">
              <a:avLst>
                <a:gd name="adj" fmla="val 17857"/>
              </a:avLst>
            </a:prstGeom>
            <a:solidFill>
              <a:srgbClr val="0D1B2A"/>
            </a:solidFill>
            <a:ln/>
          </p:spPr>
        </p:sp>
        <p:sp>
          <p:nvSpPr>
            <p:cNvPr id="24" name="Text 20"/>
            <p:cNvSpPr/>
            <p:nvPr/>
          </p:nvSpPr>
          <p:spPr>
            <a:xfrm>
              <a:off x="11183112" y="3465576"/>
              <a:ext cx="457200" cy="36576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6</a:t>
              </a:r>
              <a:endParaRPr lang="en-US" sz="1200" dirty="0"/>
            </a:p>
          </p:txBody>
        </p:sp>
      </p:grpSp>
      <p:sp>
        <p:nvSpPr>
          <p:cNvPr id="25" name="Text 21"/>
          <p:cNvSpPr/>
          <p:nvPr/>
        </p:nvSpPr>
        <p:spPr>
          <a:xfrm>
            <a:off x="7032929" y="4833559"/>
            <a:ext cx="3601941" cy="822960"/>
          </a:xfrm>
          <a:prstGeom prst="rect">
            <a:avLst/>
          </a:prstGeom>
          <a:noFill/>
          <a:ln/>
        </p:spPr>
        <p:txBody>
          <a:bodyPr wrap="square" rtlCol="0" anchor="t"/>
          <a:lstStyle/>
          <a:p>
            <a:pPr marL="0" indent="0" algn="ctr">
              <a:lnSpc>
                <a:spcPct val="120000"/>
              </a:lnSpc>
              <a:buNone/>
            </a:pPr>
            <a:r>
              <a:rPr lang="en-US" sz="1400" i="1" dirty="0">
                <a:solidFill>
                  <a:srgbClr val="5B6B77"/>
                </a:solidFill>
                <a:latin typeface="Calibri" pitchFamily="34" charset="0"/>
                <a:ea typeface="Calibri" pitchFamily="34" charset="-122"/>
                <a:cs typeface="Calibri" pitchFamily="34" charset="-120"/>
              </a:rPr>
              <a:t>19 papers reviewed in total across three research areas, spanning 2008–2026.</a:t>
            </a:r>
            <a:endParaRPr lang="en-US" sz="1400" dirty="0"/>
          </a:p>
        </p:txBody>
      </p:sp>
      <p:sp>
        <p:nvSpPr>
          <p:cNvPr id="26" name="Text 22"/>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Literature Review — Defenses &amp; Case</a:t>
            </a:r>
            <a:endParaRPr lang="en-US" sz="1000" dirty="0"/>
          </a:p>
        </p:txBody>
      </p:sp>
      <p:sp>
        <p:nvSpPr>
          <p:cNvPr id="27" name="Text 23"/>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28" name="Text 24"/>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WHERE THE FIELD STANDS</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State of the Art</a:t>
            </a:r>
            <a:endParaRPr lang="en-US" sz="4000" dirty="0"/>
          </a:p>
        </p:txBody>
      </p:sp>
      <p:grpSp>
        <p:nvGrpSpPr>
          <p:cNvPr id="23" name="Group 22">
            <a:extLst>
              <a:ext uri="{FF2B5EF4-FFF2-40B4-BE49-F238E27FC236}">
                <a16:creationId xmlns:a16="http://schemas.microsoft.com/office/drawing/2014/main" id="{C53691D9-2F3B-AFC1-564A-D3211260CB6D}"/>
              </a:ext>
            </a:extLst>
          </p:cNvPr>
          <p:cNvGrpSpPr/>
          <p:nvPr/>
        </p:nvGrpSpPr>
        <p:grpSpPr>
          <a:xfrm>
            <a:off x="553212" y="1485900"/>
            <a:ext cx="10789920" cy="841248"/>
            <a:chOff x="553212" y="1485900"/>
            <a:chExt cx="10789920" cy="841248"/>
          </a:xfrm>
        </p:grpSpPr>
        <p:sp>
          <p:nvSpPr>
            <p:cNvPr id="4" name="Shape 2"/>
            <p:cNvSpPr/>
            <p:nvPr/>
          </p:nvSpPr>
          <p:spPr>
            <a:xfrm>
              <a:off x="553212" y="1504188"/>
              <a:ext cx="566928" cy="566928"/>
            </a:xfrm>
            <a:prstGeom prst="ellipse">
              <a:avLst/>
            </a:prstGeom>
            <a:solidFill>
              <a:srgbClr val="0D1B2A"/>
            </a:solidFill>
            <a:ln/>
          </p:spPr>
        </p:sp>
        <p:pic>
          <p:nvPicPr>
            <p:cNvPr id="5" name="Image 0" descr="C:\Users\Borshon\Downloads\genomic presentation\icons\search.png"/>
            <p:cNvPicPr>
              <a:picLocks noChangeAspect="1"/>
            </p:cNvPicPr>
            <p:nvPr/>
          </p:nvPicPr>
          <p:blipFill>
            <a:blip r:embed="rId3"/>
            <a:stretch>
              <a:fillRect/>
            </a:stretch>
          </p:blipFill>
          <p:spPr>
            <a:xfrm>
              <a:off x="700613" y="1651589"/>
              <a:ext cx="272125" cy="272125"/>
            </a:xfrm>
            <a:prstGeom prst="rect">
              <a:avLst/>
            </a:prstGeom>
          </p:spPr>
        </p:pic>
        <p:sp>
          <p:nvSpPr>
            <p:cNvPr id="6" name="Text 3"/>
            <p:cNvSpPr/>
            <p:nvPr/>
          </p:nvSpPr>
          <p:spPr>
            <a:xfrm>
              <a:off x="1284732" y="1485900"/>
              <a:ext cx="9875520" cy="320040"/>
            </a:xfrm>
            <a:prstGeom prst="rect">
              <a:avLst/>
            </a:prstGeom>
            <a:noFill/>
            <a:ln/>
          </p:spPr>
          <p:txBody>
            <a:bodyPr wrap="square" rtlCol="0" anchor="t"/>
            <a:lstStyle/>
            <a:p>
              <a:pPr marL="0" indent="0">
                <a:buNone/>
              </a:pPr>
              <a:r>
                <a:rPr lang="en-US" sz="2000" b="1" dirty="0">
                  <a:solidFill>
                    <a:srgbClr val="0D1B2A"/>
                  </a:solidFill>
                  <a:latin typeface="Calibri" pitchFamily="34" charset="0"/>
                  <a:ea typeface="Calibri" pitchFamily="34" charset="-122"/>
                  <a:cs typeface="Calibri" pitchFamily="34" charset="-120"/>
                </a:rPr>
                <a:t>Attacks</a:t>
              </a:r>
              <a:endParaRPr lang="en-US" sz="2000" dirty="0"/>
            </a:p>
          </p:txBody>
        </p:sp>
        <p:sp>
          <p:nvSpPr>
            <p:cNvPr id="7" name="Text 4"/>
            <p:cNvSpPr/>
            <p:nvPr/>
          </p:nvSpPr>
          <p:spPr>
            <a:xfrm>
              <a:off x="1284732" y="1824228"/>
              <a:ext cx="10058400" cy="50292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Linkage, membership inference, and reconstruction attacks are well-studied methods for re-identifying people from "anonymous" genomic or tabular data.</a:t>
              </a:r>
              <a:endParaRPr lang="en-US" sz="1600" dirty="0"/>
            </a:p>
          </p:txBody>
        </p:sp>
      </p:grpSp>
      <p:grpSp>
        <p:nvGrpSpPr>
          <p:cNvPr id="24" name="Group 23">
            <a:extLst>
              <a:ext uri="{FF2B5EF4-FFF2-40B4-BE49-F238E27FC236}">
                <a16:creationId xmlns:a16="http://schemas.microsoft.com/office/drawing/2014/main" id="{8EFCE52E-57BD-A475-0E1A-26001A03EC03}"/>
              </a:ext>
            </a:extLst>
          </p:cNvPr>
          <p:cNvGrpSpPr/>
          <p:nvPr/>
        </p:nvGrpSpPr>
        <p:grpSpPr>
          <a:xfrm>
            <a:off x="548640" y="2526030"/>
            <a:ext cx="10789920" cy="841248"/>
            <a:chOff x="548640" y="2651760"/>
            <a:chExt cx="10789920" cy="841248"/>
          </a:xfrm>
        </p:grpSpPr>
        <p:sp>
          <p:nvSpPr>
            <p:cNvPr id="8" name="Shape 5"/>
            <p:cNvSpPr/>
            <p:nvPr/>
          </p:nvSpPr>
          <p:spPr>
            <a:xfrm>
              <a:off x="548640" y="2670048"/>
              <a:ext cx="566928" cy="566928"/>
            </a:xfrm>
            <a:prstGeom prst="ellipse">
              <a:avLst/>
            </a:prstGeom>
            <a:solidFill>
              <a:srgbClr val="0D1B2A"/>
            </a:solidFill>
            <a:ln/>
          </p:spPr>
        </p:sp>
        <p:pic>
          <p:nvPicPr>
            <p:cNvPr id="9" name="Image 1" descr="C:\Users\Borshon\Downloads\genomic presentation\icons\shield.png"/>
            <p:cNvPicPr>
              <a:picLocks noChangeAspect="1"/>
            </p:cNvPicPr>
            <p:nvPr/>
          </p:nvPicPr>
          <p:blipFill>
            <a:blip r:embed="rId4"/>
            <a:stretch>
              <a:fillRect/>
            </a:stretch>
          </p:blipFill>
          <p:spPr>
            <a:xfrm>
              <a:off x="696041" y="2817449"/>
              <a:ext cx="272125" cy="272125"/>
            </a:xfrm>
            <a:prstGeom prst="rect">
              <a:avLst/>
            </a:prstGeom>
          </p:spPr>
        </p:pic>
        <p:sp>
          <p:nvSpPr>
            <p:cNvPr id="10" name="Text 6"/>
            <p:cNvSpPr/>
            <p:nvPr/>
          </p:nvSpPr>
          <p:spPr>
            <a:xfrm>
              <a:off x="1280160" y="2651760"/>
              <a:ext cx="9875520" cy="320040"/>
            </a:xfrm>
            <a:prstGeom prst="rect">
              <a:avLst/>
            </a:prstGeom>
            <a:noFill/>
            <a:ln/>
          </p:spPr>
          <p:txBody>
            <a:bodyPr wrap="square" rtlCol="0" anchor="t"/>
            <a:lstStyle/>
            <a:p>
              <a:pPr marL="0" indent="0">
                <a:buNone/>
              </a:pPr>
              <a:r>
                <a:rPr lang="en-US" sz="2000" b="1" dirty="0">
                  <a:solidFill>
                    <a:srgbClr val="0D1B2A"/>
                  </a:solidFill>
                  <a:latin typeface="Calibri" pitchFamily="34" charset="0"/>
                  <a:ea typeface="Calibri" pitchFamily="34" charset="-122"/>
                  <a:cs typeface="Calibri" pitchFamily="34" charset="-120"/>
                </a:rPr>
                <a:t>Defenses</a:t>
              </a:r>
              <a:endParaRPr lang="en-US" sz="2000" dirty="0"/>
            </a:p>
          </p:txBody>
        </p:sp>
        <p:sp>
          <p:nvSpPr>
            <p:cNvPr id="11" name="Text 7"/>
            <p:cNvSpPr/>
            <p:nvPr/>
          </p:nvSpPr>
          <p:spPr>
            <a:xfrm>
              <a:off x="1280160" y="2990088"/>
              <a:ext cx="10058400" cy="50292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Differential privacy (statistical noise) and synthetic data generation (realistic fake data) are the two leading defense approaches in current research.</a:t>
              </a:r>
              <a:endParaRPr lang="en-US" sz="1600" dirty="0"/>
            </a:p>
          </p:txBody>
        </p:sp>
      </p:grpSp>
      <p:grpSp>
        <p:nvGrpSpPr>
          <p:cNvPr id="25" name="Group 24">
            <a:extLst>
              <a:ext uri="{FF2B5EF4-FFF2-40B4-BE49-F238E27FC236}">
                <a16:creationId xmlns:a16="http://schemas.microsoft.com/office/drawing/2014/main" id="{D6C2A61E-544F-832F-A51B-8F60E1C66E43}"/>
              </a:ext>
            </a:extLst>
          </p:cNvPr>
          <p:cNvGrpSpPr/>
          <p:nvPr/>
        </p:nvGrpSpPr>
        <p:grpSpPr>
          <a:xfrm>
            <a:off x="548640" y="3584448"/>
            <a:ext cx="10789920" cy="841248"/>
            <a:chOff x="548640" y="3584448"/>
            <a:chExt cx="10789920" cy="841248"/>
          </a:xfrm>
        </p:grpSpPr>
        <p:sp>
          <p:nvSpPr>
            <p:cNvPr id="12" name="Shape 8"/>
            <p:cNvSpPr/>
            <p:nvPr/>
          </p:nvSpPr>
          <p:spPr>
            <a:xfrm>
              <a:off x="548640" y="3602736"/>
              <a:ext cx="566928" cy="566928"/>
            </a:xfrm>
            <a:prstGeom prst="ellipse">
              <a:avLst/>
            </a:prstGeom>
            <a:solidFill>
              <a:srgbClr val="0D1B2A"/>
            </a:solidFill>
            <a:ln/>
          </p:spPr>
        </p:sp>
        <p:pic>
          <p:nvPicPr>
            <p:cNvPr id="13" name="Image 2" descr="C:\Users\Borshon\Downloads\genomic presentation\icons\barchart.png"/>
            <p:cNvPicPr>
              <a:picLocks noChangeAspect="1"/>
            </p:cNvPicPr>
            <p:nvPr/>
          </p:nvPicPr>
          <p:blipFill>
            <a:blip r:embed="rId3"/>
            <a:stretch>
              <a:fillRect/>
            </a:stretch>
          </p:blipFill>
          <p:spPr>
            <a:xfrm>
              <a:off x="696041" y="3750137"/>
              <a:ext cx="272125" cy="272125"/>
            </a:xfrm>
            <a:prstGeom prst="rect">
              <a:avLst/>
            </a:prstGeom>
          </p:spPr>
        </p:pic>
        <p:sp>
          <p:nvSpPr>
            <p:cNvPr id="14" name="Text 9"/>
            <p:cNvSpPr/>
            <p:nvPr/>
          </p:nvSpPr>
          <p:spPr>
            <a:xfrm>
              <a:off x="1280160" y="3584448"/>
              <a:ext cx="9875520" cy="320040"/>
            </a:xfrm>
            <a:prstGeom prst="rect">
              <a:avLst/>
            </a:prstGeom>
            <a:noFill/>
            <a:ln/>
          </p:spPr>
          <p:txBody>
            <a:bodyPr wrap="square" rtlCol="0" anchor="t"/>
            <a:lstStyle/>
            <a:p>
              <a:pPr marL="0" indent="0">
                <a:buNone/>
              </a:pPr>
              <a:r>
                <a:rPr lang="en-US" sz="2000" b="1" dirty="0">
                  <a:solidFill>
                    <a:srgbClr val="0D1B2A"/>
                  </a:solidFill>
                  <a:latin typeface="Calibri" pitchFamily="34" charset="0"/>
                  <a:ea typeface="Calibri" pitchFamily="34" charset="-122"/>
                  <a:cs typeface="Calibri" pitchFamily="34" charset="-120"/>
                </a:rPr>
                <a:t>Evaluation</a:t>
              </a:r>
              <a:endParaRPr lang="en-US" sz="2000" dirty="0"/>
            </a:p>
          </p:txBody>
        </p:sp>
        <p:sp>
          <p:nvSpPr>
            <p:cNvPr id="15" name="Text 10"/>
            <p:cNvSpPr/>
            <p:nvPr/>
          </p:nvSpPr>
          <p:spPr>
            <a:xfrm>
              <a:off x="1280160" y="3922776"/>
              <a:ext cx="10058400" cy="502920"/>
            </a:xfrm>
            <a:prstGeom prst="rect">
              <a:avLst/>
            </a:prstGeom>
            <a:noFill/>
            <a:ln/>
          </p:spPr>
          <p:txBody>
            <a:bodyPr wrap="square" rtlCol="0" anchor="t"/>
            <a:lstStyle/>
            <a:p>
              <a:pPr marL="0" indent="0">
                <a:lnSpc>
                  <a:spcPct val="115000"/>
                </a:lnSpc>
                <a:buNone/>
              </a:pPr>
              <a:r>
                <a:rPr lang="en-US" sz="1600" dirty="0">
                  <a:solidFill>
                    <a:srgbClr val="1B2733"/>
                  </a:solidFill>
                  <a:latin typeface="Calibri" pitchFamily="34" charset="0"/>
                  <a:ea typeface="Calibri" pitchFamily="34" charset="-122"/>
                  <a:cs typeface="Calibri" pitchFamily="34" charset="-120"/>
                </a:rPr>
                <a:t>Researchers typically compare "attack success rate" before and after protection is applied, using real datasets such as OpenSNP.</a:t>
              </a:r>
              <a:endParaRPr lang="en-US" sz="1600" dirty="0"/>
            </a:p>
          </p:txBody>
        </p:sp>
      </p:grpSp>
      <p:grpSp>
        <p:nvGrpSpPr>
          <p:cNvPr id="26" name="Group 25">
            <a:extLst>
              <a:ext uri="{FF2B5EF4-FFF2-40B4-BE49-F238E27FC236}">
                <a16:creationId xmlns:a16="http://schemas.microsoft.com/office/drawing/2014/main" id="{C631F6EB-D90B-C2A5-5874-3DB2FD4D8EB0}"/>
              </a:ext>
            </a:extLst>
          </p:cNvPr>
          <p:cNvGrpSpPr/>
          <p:nvPr/>
        </p:nvGrpSpPr>
        <p:grpSpPr>
          <a:xfrm>
            <a:off x="530352" y="4883334"/>
            <a:ext cx="11064240" cy="1234440"/>
            <a:chOff x="548640" y="4608576"/>
            <a:chExt cx="11064240" cy="1234440"/>
          </a:xfrm>
        </p:grpSpPr>
        <p:sp>
          <p:nvSpPr>
            <p:cNvPr id="16" name="Shape 11"/>
            <p:cNvSpPr/>
            <p:nvPr/>
          </p:nvSpPr>
          <p:spPr>
            <a:xfrm>
              <a:off x="548640" y="4608576"/>
              <a:ext cx="11064240" cy="1234440"/>
            </a:xfrm>
            <a:prstGeom prst="roundRect">
              <a:avLst>
                <a:gd name="adj" fmla="val 6667"/>
              </a:avLst>
            </a:prstGeom>
            <a:solidFill>
              <a:srgbClr val="0D1B2A"/>
            </a:solidFill>
            <a:ln/>
          </p:spPr>
        </p:sp>
        <p:sp>
          <p:nvSpPr>
            <p:cNvPr id="17" name="Shape 12"/>
            <p:cNvSpPr/>
            <p:nvPr/>
          </p:nvSpPr>
          <p:spPr>
            <a:xfrm>
              <a:off x="777240" y="4855464"/>
              <a:ext cx="685800" cy="685800"/>
            </a:xfrm>
            <a:prstGeom prst="ellipse">
              <a:avLst/>
            </a:prstGeom>
            <a:solidFill>
              <a:srgbClr val="1B8F84"/>
            </a:solidFill>
            <a:ln/>
          </p:spPr>
        </p:sp>
        <p:pic>
          <p:nvPicPr>
            <p:cNvPr id="18" name="Image 3" descr="C:\Users\Borshon\Downloads\genomic presentation\icons\target.png"/>
            <p:cNvPicPr>
              <a:picLocks noChangeAspect="1"/>
            </p:cNvPicPr>
            <p:nvPr/>
          </p:nvPicPr>
          <p:blipFill>
            <a:blip r:embed="rId3"/>
            <a:stretch>
              <a:fillRect/>
            </a:stretch>
          </p:blipFill>
          <p:spPr>
            <a:xfrm>
              <a:off x="955548" y="5033772"/>
              <a:ext cx="329184" cy="329184"/>
            </a:xfrm>
            <a:prstGeom prst="rect">
              <a:avLst/>
            </a:prstGeom>
          </p:spPr>
        </p:pic>
        <p:sp>
          <p:nvSpPr>
            <p:cNvPr id="19" name="Text 13"/>
            <p:cNvSpPr/>
            <p:nvPr/>
          </p:nvSpPr>
          <p:spPr>
            <a:xfrm>
              <a:off x="1691640" y="4736592"/>
              <a:ext cx="9601200" cy="914400"/>
            </a:xfrm>
            <a:prstGeom prst="rect">
              <a:avLst/>
            </a:prstGeom>
            <a:noFill/>
            <a:ln/>
          </p:spPr>
          <p:txBody>
            <a:bodyPr wrap="square" rtlCol="0" anchor="t"/>
            <a:lstStyle/>
            <a:p>
              <a:pPr marL="0" indent="0">
                <a:lnSpc>
                  <a:spcPct val="115000"/>
                </a:lnSpc>
                <a:buNone/>
              </a:pPr>
              <a:r>
                <a:rPr lang="en-US" b="1" dirty="0">
                  <a:solidFill>
                    <a:srgbClr val="2EC4B6"/>
                  </a:solidFill>
                  <a:latin typeface="Calibri" pitchFamily="34" charset="0"/>
                  <a:ea typeface="Calibri" pitchFamily="34" charset="-122"/>
                  <a:cs typeface="Calibri" pitchFamily="34" charset="-120"/>
                </a:rPr>
                <a:t>Example  PROVGEN
</a:t>
              </a:r>
              <a:r>
                <a:rPr lang="en-US" sz="1600" dirty="0">
                  <a:solidFill>
                    <a:srgbClr val="FFFFFF"/>
                  </a:solidFill>
                  <a:latin typeface="Calibri" pitchFamily="34" charset="0"/>
                  <a:ea typeface="Calibri" pitchFamily="34" charset="-122"/>
                  <a:cs typeface="Calibri" pitchFamily="34" charset="-120"/>
                </a:rPr>
                <a:t>A research project that tested exactly this kind of setup: real OpenSNP data, membership inference attacks, and differential privacy / synthetic data as defenses.</a:t>
              </a:r>
              <a:endParaRPr lang="en-US" dirty="0"/>
            </a:p>
          </p:txBody>
        </p:sp>
      </p:grpSp>
      <p:sp>
        <p:nvSpPr>
          <p:cNvPr id="20" name="Text 14"/>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State of the Art</a:t>
            </a:r>
            <a:endParaRPr lang="en-US" sz="1000" dirty="0"/>
          </a:p>
        </p:txBody>
      </p:sp>
      <p:sp>
        <p:nvSpPr>
          <p:cNvPr id="21" name="Text 15"/>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22" name="Text 16"/>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WHAT’S MISSING</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Gap Analysis</a:t>
            </a:r>
            <a:endParaRPr lang="en-US" sz="4000" dirty="0"/>
          </a:p>
        </p:txBody>
      </p:sp>
      <p:graphicFrame>
        <p:nvGraphicFramePr>
          <p:cNvPr id="8" name="Table 0"/>
          <p:cNvGraphicFramePr>
            <a:graphicFrameLocks noGrp="1"/>
          </p:cNvGraphicFramePr>
          <p:nvPr>
            <p:extLst>
              <p:ext uri="{D42A27DB-BD31-4B8C-83A1-F6EECF244321}">
                <p14:modId xmlns:p14="http://schemas.microsoft.com/office/powerpoint/2010/main" val="891467786"/>
              </p:ext>
            </p:extLst>
          </p:nvPr>
        </p:nvGraphicFramePr>
        <p:xfrm>
          <a:off x="548640" y="1783080"/>
          <a:ext cx="11064240" cy="4306434"/>
        </p:xfrm>
        <a:graphic>
          <a:graphicData uri="http://schemas.openxmlformats.org/drawingml/2006/table">
            <a:tbl>
              <a:tblPr/>
              <a:tblGrid>
                <a:gridCol w="42062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782988">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Gap</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Why It Matters</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1174482">
                <a:tc>
                  <a:txBody>
                    <a:bodyPr/>
                    <a:lstStyle/>
                    <a:p>
                      <a:pPr marL="0" indent="0">
                        <a:buNone/>
                      </a:pPr>
                      <a:r>
                        <a:rPr lang="en-US" sz="1800" dirty="0">
                          <a:solidFill>
                            <a:srgbClr val="1B2733"/>
                          </a:solidFill>
                          <a:latin typeface="Calibri" pitchFamily="34" charset="0"/>
                          <a:ea typeface="Calibri" pitchFamily="34" charset="-122"/>
                          <a:cs typeface="Calibri" pitchFamily="34" charset="-120"/>
                        </a:rPr>
                        <a:t>Attacks and defenses studied in isolation</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buNone/>
                      </a:pPr>
                      <a:r>
                        <a:rPr lang="en-US" sz="1800" dirty="0">
                          <a:solidFill>
                            <a:srgbClr val="1B2733"/>
                          </a:solidFill>
                          <a:latin typeface="Calibri" pitchFamily="34" charset="0"/>
                          <a:ea typeface="Calibri" pitchFamily="34" charset="-122"/>
                          <a:cs typeface="Calibri" pitchFamily="34" charset="-120"/>
                        </a:rPr>
                        <a:t>Few small, self-contained comparisons combine multiple attacks and multiple defenses together with real-world context in one place.</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1174482">
                <a:tc>
                  <a:txBody>
                    <a:bodyPr/>
                    <a:lstStyle/>
                    <a:p>
                      <a:pPr marL="0" indent="0">
                        <a:buNone/>
                      </a:pPr>
                      <a:r>
                        <a:rPr lang="en-US" sz="1800" dirty="0">
                          <a:solidFill>
                            <a:srgbClr val="1B2733"/>
                          </a:solidFill>
                          <a:latin typeface="Calibri" pitchFamily="34" charset="0"/>
                          <a:ea typeface="Calibri" pitchFamily="34" charset="-122"/>
                          <a:cs typeface="Calibri" pitchFamily="34" charset="-120"/>
                        </a:rPr>
                        <a:t>Breach stories disconnected from technical work</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tc>
                  <a:txBody>
                    <a:bodyPr/>
                    <a:lstStyle/>
                    <a:p>
                      <a:pPr marL="0" indent="0">
                        <a:buNone/>
                      </a:pPr>
                      <a:r>
                        <a:rPr lang="en-US" sz="1800" dirty="0">
                          <a:solidFill>
                            <a:srgbClr val="1B2733"/>
                          </a:solidFill>
                          <a:latin typeface="Calibri" pitchFamily="34" charset="0"/>
                          <a:ea typeface="Calibri" pitchFamily="34" charset="-122"/>
                          <a:cs typeface="Calibri" pitchFamily="34" charset="-120"/>
                        </a:rPr>
                        <a:t>Very few materials connect a real breach case (like 23andMe) directly to a hands-on demonstration of the same underlying risk.</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74482">
                <a:tc>
                  <a:txBody>
                    <a:bodyPr/>
                    <a:lstStyle/>
                    <a:p>
                      <a:pPr marL="0" indent="0">
                        <a:buNone/>
                      </a:pPr>
                      <a:r>
                        <a:rPr lang="en-US" sz="1800" dirty="0">
                          <a:solidFill>
                            <a:srgbClr val="1B2733"/>
                          </a:solidFill>
                          <a:latin typeface="Calibri" pitchFamily="34" charset="0"/>
                          <a:ea typeface="Calibri" pitchFamily="34" charset="-122"/>
                          <a:cs typeface="Calibri" pitchFamily="34" charset="-120"/>
                        </a:rPr>
                        <a:t>Limited beginner-friendly, reproducible demos</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tc>
                  <a:txBody>
                    <a:bodyPr/>
                    <a:lstStyle/>
                    <a:p>
                      <a:pPr marL="0" indent="0">
                        <a:buNone/>
                      </a:pPr>
                      <a:r>
                        <a:rPr lang="en-US" sz="1800" dirty="0">
                          <a:solidFill>
                            <a:srgbClr val="1B2733"/>
                          </a:solidFill>
                          <a:latin typeface="Calibri" pitchFamily="34" charset="0"/>
                          <a:ea typeface="Calibri" pitchFamily="34" charset="-122"/>
                          <a:cs typeface="Calibri" pitchFamily="34" charset="-120"/>
                        </a:rPr>
                        <a:t>Most published work assumes an advanced ML background, making it hard for students to see the privacy–utility tradeoff in practice.</a:t>
                      </a:r>
                      <a:endParaRPr lang="en-US" sz="1800" dirty="0">
                        <a:latin typeface="Calibri" charset="0"/>
                        <a:ea typeface="Calibri" charset="0"/>
                        <a:cs typeface="Calibri" charset="0"/>
                      </a:endParaRPr>
                    </a:p>
                  </a:txBody>
                  <a:tcPr anchor="ctr">
                    <a:lnL w="9525" cap="flat" cmpd="sng" algn="ctr">
                      <a:solidFill>
                        <a:srgbClr val="E8ECEF"/>
                      </a:solidFill>
                      <a:prstDash val="solid"/>
                      <a:round/>
                      <a:headEnd type="none" w="med" len="med"/>
                      <a:tailEnd type="none" w="med" len="med"/>
                    </a:lnL>
                    <a:lnR w="9525" cap="flat" cmpd="sng" algn="ctr">
                      <a:solidFill>
                        <a:srgbClr val="E8ECEF"/>
                      </a:solidFill>
                      <a:prstDash val="solid"/>
                      <a:round/>
                      <a:headEnd type="none" w="med" len="med"/>
                      <a:tailEnd type="none" w="med" len="med"/>
                    </a:lnR>
                    <a:lnT w="9525" cap="flat" cmpd="sng" algn="ctr">
                      <a:solidFill>
                        <a:srgbClr val="E8ECEF"/>
                      </a:solidFill>
                      <a:prstDash val="solid"/>
                      <a:round/>
                      <a:headEnd type="none" w="med" len="med"/>
                      <a:tailEnd type="none" w="med" len="med"/>
                    </a:lnT>
                    <a:lnB w="9525" cap="flat" cmpd="sng" algn="ctr">
                      <a:solidFill>
                        <a:srgbClr val="E8ECEF"/>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Gap Analysis</a:t>
            </a:r>
            <a:endParaRPr lang="en-US" sz="1000" dirty="0"/>
          </a:p>
        </p:txBody>
      </p:sp>
      <p:sp>
        <p:nvSpPr>
          <p:cNvPr id="7" name="Text 4"/>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4" name="Text 5"/>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OUR PROPOSED PLAN · PART 1 OF 3</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Dataset &amp; Attacks to Implement</a:t>
            </a:r>
            <a:endParaRPr lang="en-US" sz="4000" dirty="0"/>
          </a:p>
        </p:txBody>
      </p:sp>
      <p:sp>
        <p:nvSpPr>
          <p:cNvPr id="4" name="Shape 2"/>
          <p:cNvSpPr/>
          <p:nvPr/>
        </p:nvSpPr>
        <p:spPr>
          <a:xfrm>
            <a:off x="548640" y="1691640"/>
            <a:ext cx="5394960" cy="4297680"/>
          </a:xfrm>
          <a:prstGeom prst="roundRect">
            <a:avLst>
              <a:gd name="adj" fmla="val 1915"/>
            </a:avLst>
          </a:prstGeom>
          <a:solidFill>
            <a:srgbClr val="F4F6F7"/>
          </a:solidFill>
          <a:ln/>
        </p:spPr>
      </p:sp>
      <p:sp>
        <p:nvSpPr>
          <p:cNvPr id="5" name="Shape 3"/>
          <p:cNvSpPr/>
          <p:nvPr/>
        </p:nvSpPr>
        <p:spPr>
          <a:xfrm>
            <a:off x="822960" y="1920240"/>
            <a:ext cx="594360" cy="594360"/>
          </a:xfrm>
          <a:prstGeom prst="ellipse">
            <a:avLst/>
          </a:prstGeom>
          <a:solidFill>
            <a:srgbClr val="0D1B2A"/>
          </a:solidFill>
          <a:ln/>
        </p:spPr>
      </p:sp>
      <p:pic>
        <p:nvPicPr>
          <p:cNvPr id="6" name="Image 0" descr="C:\Users\Borshon\Downloads\genomic presentation\icons\database.png"/>
          <p:cNvPicPr>
            <a:picLocks noChangeAspect="1"/>
          </p:cNvPicPr>
          <p:nvPr/>
        </p:nvPicPr>
        <p:blipFill>
          <a:blip r:embed="rId3"/>
          <a:stretch>
            <a:fillRect/>
          </a:stretch>
        </p:blipFill>
        <p:spPr>
          <a:xfrm>
            <a:off x="977494" y="2074774"/>
            <a:ext cx="285293" cy="285293"/>
          </a:xfrm>
          <a:prstGeom prst="rect">
            <a:avLst/>
          </a:prstGeom>
        </p:spPr>
      </p:pic>
      <p:sp>
        <p:nvSpPr>
          <p:cNvPr id="7" name="Text 4"/>
          <p:cNvSpPr/>
          <p:nvPr/>
        </p:nvSpPr>
        <p:spPr>
          <a:xfrm>
            <a:off x="1445667" y="2012653"/>
            <a:ext cx="4114800" cy="457200"/>
          </a:xfrm>
          <a:prstGeom prst="rect">
            <a:avLst/>
          </a:prstGeom>
          <a:noFill/>
          <a:ln/>
        </p:spPr>
        <p:txBody>
          <a:bodyPr wrap="square"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Dataset</a:t>
            </a:r>
            <a:endParaRPr lang="en-US" sz="2400" dirty="0"/>
          </a:p>
        </p:txBody>
      </p:sp>
      <p:sp>
        <p:nvSpPr>
          <p:cNvPr id="8" name="Text 5"/>
          <p:cNvSpPr/>
          <p:nvPr/>
        </p:nvSpPr>
        <p:spPr>
          <a:xfrm>
            <a:off x="822960" y="2697480"/>
            <a:ext cx="4846320" cy="914400"/>
          </a:xfrm>
          <a:prstGeom prst="rect">
            <a:avLst/>
          </a:prstGeom>
          <a:noFill/>
          <a:ln/>
        </p:spPr>
        <p:txBody>
          <a:bodyPr wrap="square" rtlCol="0" anchor="t"/>
          <a:lstStyle/>
          <a:p>
            <a:pPr marL="0" indent="0">
              <a:lnSpc>
                <a:spcPct val="120000"/>
              </a:lnSpc>
              <a:buNone/>
            </a:pPr>
            <a:r>
              <a:rPr lang="en-US" sz="1600" dirty="0">
                <a:solidFill>
                  <a:srgbClr val="1B2733"/>
                </a:solidFill>
                <a:latin typeface="Calibri" pitchFamily="34" charset="0"/>
                <a:ea typeface="Calibri" pitchFamily="34" charset="-122"/>
                <a:cs typeface="Calibri" pitchFamily="34" charset="-120"/>
              </a:rPr>
              <a:t>Real public genomic data from </a:t>
            </a:r>
            <a:r>
              <a:rPr lang="en-US" sz="1600" dirty="0" err="1">
                <a:solidFill>
                  <a:srgbClr val="1B2733"/>
                </a:solidFill>
                <a:latin typeface="Calibri" pitchFamily="34" charset="0"/>
                <a:ea typeface="Calibri" pitchFamily="34" charset="-122"/>
                <a:cs typeface="Calibri" pitchFamily="34" charset="-120"/>
              </a:rPr>
              <a:t>OpenSNP</a:t>
            </a:r>
            <a:r>
              <a:rPr lang="en-US" sz="1600" dirty="0">
                <a:solidFill>
                  <a:srgbClr val="1B2733"/>
                </a:solidFill>
                <a:latin typeface="Calibri" pitchFamily="34" charset="0"/>
                <a:ea typeface="Calibri" pitchFamily="34" charset="-122"/>
                <a:cs typeface="Calibri" pitchFamily="34" charset="-120"/>
              </a:rPr>
              <a:t> individuals who voluntarily shared their DNA data for research.</a:t>
            </a:r>
            <a:endParaRPr lang="en-US" sz="1600" dirty="0"/>
          </a:p>
        </p:txBody>
      </p:sp>
      <p:sp>
        <p:nvSpPr>
          <p:cNvPr id="9" name="Shape 6"/>
          <p:cNvSpPr/>
          <p:nvPr/>
        </p:nvSpPr>
        <p:spPr>
          <a:xfrm>
            <a:off x="822960" y="3749040"/>
            <a:ext cx="4846320" cy="0"/>
          </a:xfrm>
          <a:prstGeom prst="line">
            <a:avLst/>
          </a:prstGeom>
          <a:noFill/>
          <a:ln w="12700">
            <a:solidFill>
              <a:srgbClr val="D5DBDF"/>
            </a:solidFill>
            <a:prstDash val="solid"/>
          </a:ln>
        </p:spPr>
      </p:sp>
      <p:sp>
        <p:nvSpPr>
          <p:cNvPr id="10" name="Text 7"/>
          <p:cNvSpPr/>
          <p:nvPr/>
        </p:nvSpPr>
        <p:spPr>
          <a:xfrm>
            <a:off x="822960" y="3886200"/>
            <a:ext cx="4846320" cy="274320"/>
          </a:xfrm>
          <a:prstGeom prst="rect">
            <a:avLst/>
          </a:prstGeom>
          <a:noFill/>
          <a:ln/>
        </p:spPr>
        <p:txBody>
          <a:bodyPr wrap="square" rtlCol="0" anchor="ctr"/>
          <a:lstStyle/>
          <a:p>
            <a:pPr marL="0" indent="0">
              <a:buNone/>
            </a:pPr>
            <a:r>
              <a:rPr lang="en-US" sz="1400" b="1" kern="0" spc="100" dirty="0">
                <a:solidFill>
                  <a:srgbClr val="1B8F84"/>
                </a:solidFill>
                <a:latin typeface="Calibri" pitchFamily="34" charset="0"/>
                <a:ea typeface="Calibri" pitchFamily="34" charset="-122"/>
                <a:cs typeface="Calibri" pitchFamily="34" charset="-120"/>
              </a:rPr>
              <a:t>WHY OPENSNP</a:t>
            </a:r>
            <a:endParaRPr lang="en-US" sz="1400" dirty="0"/>
          </a:p>
        </p:txBody>
      </p:sp>
      <p:sp>
        <p:nvSpPr>
          <p:cNvPr id="11" name="Text 8"/>
          <p:cNvSpPr/>
          <p:nvPr/>
        </p:nvSpPr>
        <p:spPr>
          <a:xfrm>
            <a:off x="822960" y="4206240"/>
            <a:ext cx="4846320" cy="1554480"/>
          </a:xfrm>
          <a:prstGeom prst="rect">
            <a:avLst/>
          </a:prstGeom>
          <a:noFill/>
          <a:ln/>
        </p:spPr>
        <p:txBody>
          <a:bodyPr wrap="square" rtlCol="0" anchor="t"/>
          <a:lstStyle/>
          <a:p>
            <a:pPr marL="342900" indent="-342900">
              <a:spcAft>
                <a:spcPts val="800"/>
              </a:spcAft>
              <a:buSzPct val="100000"/>
              <a:buChar char="•"/>
            </a:pPr>
            <a:r>
              <a:rPr lang="en-US" dirty="0">
                <a:solidFill>
                  <a:srgbClr val="1B2733"/>
                </a:solidFill>
                <a:latin typeface="Calibri" pitchFamily="34" charset="0"/>
                <a:ea typeface="Calibri" pitchFamily="34" charset="-122"/>
                <a:cs typeface="Calibri" pitchFamily="34" charset="-120"/>
              </a:rPr>
              <a:t>Publicly accessible and ethically sourced</a:t>
            </a:r>
            <a:endParaRPr lang="en-US" dirty="0"/>
          </a:p>
          <a:p>
            <a:pPr marL="342900" indent="-342900">
              <a:spcAft>
                <a:spcPts val="800"/>
              </a:spcAft>
              <a:buSzPct val="100000"/>
              <a:buChar char="•"/>
            </a:pPr>
            <a:r>
              <a:rPr lang="en-US" dirty="0">
                <a:solidFill>
                  <a:srgbClr val="1B2733"/>
                </a:solidFill>
                <a:latin typeface="Calibri" pitchFamily="34" charset="0"/>
                <a:ea typeface="Calibri" pitchFamily="34" charset="-122"/>
                <a:cs typeface="Calibri" pitchFamily="34" charset="-120"/>
              </a:rPr>
              <a:t>Realistic structure for testing attacks</a:t>
            </a:r>
            <a:endParaRPr lang="en-US" dirty="0"/>
          </a:p>
          <a:p>
            <a:pPr marL="342900" indent="-342900">
              <a:spcAft>
                <a:spcPts val="800"/>
              </a:spcAft>
              <a:buSzPct val="100000"/>
              <a:buChar char="•"/>
            </a:pPr>
            <a:r>
              <a:rPr lang="en-US" dirty="0">
                <a:solidFill>
                  <a:srgbClr val="1B2733"/>
                </a:solidFill>
                <a:latin typeface="Calibri" pitchFamily="34" charset="0"/>
                <a:ea typeface="Calibri" pitchFamily="34" charset="-122"/>
                <a:cs typeface="Calibri" pitchFamily="34" charset="-120"/>
              </a:rPr>
              <a:t>Used in comparable prior work (e.g., PROVGEN)</a:t>
            </a:r>
            <a:endParaRPr lang="en-US" dirty="0"/>
          </a:p>
        </p:txBody>
      </p:sp>
      <p:sp>
        <p:nvSpPr>
          <p:cNvPr id="12" name="Text 9"/>
          <p:cNvSpPr/>
          <p:nvPr/>
        </p:nvSpPr>
        <p:spPr>
          <a:xfrm>
            <a:off x="6263640" y="1691640"/>
            <a:ext cx="5349240" cy="292608"/>
          </a:xfrm>
          <a:prstGeom prst="rect">
            <a:avLst/>
          </a:prstGeom>
          <a:noFill/>
          <a:ln/>
        </p:spPr>
        <p:txBody>
          <a:bodyPr wrap="square" rtlCol="0" anchor="ctr"/>
          <a:lstStyle/>
          <a:p>
            <a:pPr marL="0" indent="0">
              <a:buNone/>
            </a:pPr>
            <a:r>
              <a:rPr lang="en-US" sz="1400" b="1" kern="0" spc="100" dirty="0">
                <a:solidFill>
                  <a:srgbClr val="1B8F84"/>
                </a:solidFill>
                <a:latin typeface="Calibri" pitchFamily="34" charset="0"/>
                <a:ea typeface="Calibri" pitchFamily="34" charset="-122"/>
                <a:cs typeface="Calibri" pitchFamily="34" charset="-120"/>
              </a:rPr>
              <a:t>ATTACKS TO IMPLEMENT</a:t>
            </a:r>
            <a:endParaRPr lang="en-US" sz="1400" dirty="0"/>
          </a:p>
        </p:txBody>
      </p:sp>
      <p:sp>
        <p:nvSpPr>
          <p:cNvPr id="13" name="Shape 10"/>
          <p:cNvSpPr/>
          <p:nvPr/>
        </p:nvSpPr>
        <p:spPr>
          <a:xfrm>
            <a:off x="6263640" y="2011680"/>
            <a:ext cx="5349240" cy="960120"/>
          </a:xfrm>
          <a:prstGeom prst="roundRect">
            <a:avLst>
              <a:gd name="adj" fmla="val 7619"/>
            </a:avLst>
          </a:prstGeom>
          <a:solidFill>
            <a:srgbClr val="FFFFFF"/>
          </a:solidFill>
          <a:ln w="12700">
            <a:solidFill>
              <a:srgbClr val="E8ECEF"/>
            </a:solidFill>
            <a:prstDash val="solid"/>
          </a:ln>
        </p:spPr>
      </p:sp>
      <p:sp>
        <p:nvSpPr>
          <p:cNvPr id="14" name="Shape 11"/>
          <p:cNvSpPr/>
          <p:nvPr/>
        </p:nvSpPr>
        <p:spPr>
          <a:xfrm>
            <a:off x="6446520" y="2194560"/>
            <a:ext cx="548640" cy="548640"/>
          </a:xfrm>
          <a:prstGeom prst="ellipse">
            <a:avLst/>
          </a:prstGeom>
          <a:solidFill>
            <a:srgbClr val="0D1B2A"/>
          </a:solidFill>
          <a:ln/>
        </p:spPr>
      </p:sp>
      <p:pic>
        <p:nvPicPr>
          <p:cNvPr id="15" name="Image 1" descr="C:\Users\Borshon\Downloads\genomic presentation\icons\gitbranch.png"/>
          <p:cNvPicPr>
            <a:picLocks noChangeAspect="1"/>
          </p:cNvPicPr>
          <p:nvPr/>
        </p:nvPicPr>
        <p:blipFill>
          <a:blip r:embed="rId3"/>
          <a:stretch>
            <a:fillRect/>
          </a:stretch>
        </p:blipFill>
        <p:spPr>
          <a:xfrm>
            <a:off x="6589166" y="2337206"/>
            <a:ext cx="263347" cy="263347"/>
          </a:xfrm>
          <a:prstGeom prst="rect">
            <a:avLst/>
          </a:prstGeom>
        </p:spPr>
      </p:pic>
      <p:sp>
        <p:nvSpPr>
          <p:cNvPr id="16" name="Text 12"/>
          <p:cNvSpPr/>
          <p:nvPr/>
        </p:nvSpPr>
        <p:spPr>
          <a:xfrm>
            <a:off x="7132320" y="2084832"/>
            <a:ext cx="4297680" cy="8229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Linkage Attack
</a:t>
            </a:r>
            <a:r>
              <a:rPr lang="en-US" sz="1600" dirty="0">
                <a:solidFill>
                  <a:srgbClr val="1B2733"/>
                </a:solidFill>
                <a:latin typeface="Calibri" pitchFamily="34" charset="0"/>
                <a:ea typeface="Calibri" pitchFamily="34" charset="-122"/>
                <a:cs typeface="Calibri" pitchFamily="34" charset="-120"/>
              </a:rPr>
              <a:t>Matching partial known data to re-identify someone.</a:t>
            </a:r>
            <a:endParaRPr lang="en-US" dirty="0"/>
          </a:p>
        </p:txBody>
      </p:sp>
      <p:sp>
        <p:nvSpPr>
          <p:cNvPr id="17" name="Shape 13"/>
          <p:cNvSpPr/>
          <p:nvPr/>
        </p:nvSpPr>
        <p:spPr>
          <a:xfrm>
            <a:off x="6263640" y="3108960"/>
            <a:ext cx="5349240" cy="960120"/>
          </a:xfrm>
          <a:prstGeom prst="roundRect">
            <a:avLst>
              <a:gd name="adj" fmla="val 7619"/>
            </a:avLst>
          </a:prstGeom>
          <a:solidFill>
            <a:srgbClr val="FFFFFF"/>
          </a:solidFill>
          <a:ln w="12700">
            <a:solidFill>
              <a:srgbClr val="E8ECEF"/>
            </a:solidFill>
            <a:prstDash val="solid"/>
          </a:ln>
        </p:spPr>
      </p:sp>
      <p:sp>
        <p:nvSpPr>
          <p:cNvPr id="18" name="Shape 14"/>
          <p:cNvSpPr/>
          <p:nvPr/>
        </p:nvSpPr>
        <p:spPr>
          <a:xfrm>
            <a:off x="6446520" y="3291840"/>
            <a:ext cx="548640" cy="548640"/>
          </a:xfrm>
          <a:prstGeom prst="ellipse">
            <a:avLst/>
          </a:prstGeom>
          <a:solidFill>
            <a:srgbClr val="0D1B2A"/>
          </a:solidFill>
          <a:ln/>
        </p:spPr>
      </p:sp>
      <p:pic>
        <p:nvPicPr>
          <p:cNvPr id="19" name="Image 2" descr="C:\Users\Borshon\Downloads\genomic presentation\icons\eye.png"/>
          <p:cNvPicPr>
            <a:picLocks noChangeAspect="1"/>
          </p:cNvPicPr>
          <p:nvPr/>
        </p:nvPicPr>
        <p:blipFill>
          <a:blip r:embed="rId3"/>
          <a:stretch>
            <a:fillRect/>
          </a:stretch>
        </p:blipFill>
        <p:spPr>
          <a:xfrm>
            <a:off x="6589166" y="3434486"/>
            <a:ext cx="263347" cy="263347"/>
          </a:xfrm>
          <a:prstGeom prst="rect">
            <a:avLst/>
          </a:prstGeom>
        </p:spPr>
      </p:pic>
      <p:sp>
        <p:nvSpPr>
          <p:cNvPr id="20" name="Text 15"/>
          <p:cNvSpPr/>
          <p:nvPr/>
        </p:nvSpPr>
        <p:spPr>
          <a:xfrm>
            <a:off x="7068312" y="3264408"/>
            <a:ext cx="4297680" cy="8229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Membership Inference Attack
</a:t>
            </a:r>
            <a:r>
              <a:rPr lang="en-US" sz="1600" dirty="0">
                <a:solidFill>
                  <a:srgbClr val="1B2733"/>
                </a:solidFill>
                <a:latin typeface="Calibri" pitchFamily="34" charset="0"/>
                <a:ea typeface="Calibri" pitchFamily="34" charset="-122"/>
                <a:cs typeface="Calibri" pitchFamily="34" charset="-120"/>
              </a:rPr>
              <a:t>Detecting if a specific person’s data was part of a dataset.</a:t>
            </a:r>
            <a:endParaRPr lang="en-US" dirty="0"/>
          </a:p>
        </p:txBody>
      </p:sp>
      <p:sp>
        <p:nvSpPr>
          <p:cNvPr id="21" name="Text 16"/>
          <p:cNvSpPr/>
          <p:nvPr/>
        </p:nvSpPr>
        <p:spPr>
          <a:xfrm>
            <a:off x="6263640" y="4251960"/>
            <a:ext cx="5349240" cy="274320"/>
          </a:xfrm>
          <a:prstGeom prst="rect">
            <a:avLst/>
          </a:prstGeom>
          <a:noFill/>
          <a:ln/>
        </p:spPr>
        <p:txBody>
          <a:bodyPr wrap="square" rtlCol="0" anchor="ctr"/>
          <a:lstStyle/>
          <a:p>
            <a:pPr marL="0" indent="0">
              <a:buNone/>
            </a:pPr>
            <a:r>
              <a:rPr lang="en-US" sz="1400" b="1" kern="0" spc="100" dirty="0">
                <a:solidFill>
                  <a:srgbClr val="5B6B77"/>
                </a:solidFill>
                <a:latin typeface="Calibri" pitchFamily="34" charset="0"/>
                <a:ea typeface="Calibri" pitchFamily="34" charset="-122"/>
                <a:cs typeface="Calibri" pitchFamily="34" charset="-120"/>
              </a:rPr>
              <a:t>ATTACK FLOW</a:t>
            </a:r>
            <a:endParaRPr lang="en-US" sz="1400" dirty="0"/>
          </a:p>
        </p:txBody>
      </p:sp>
      <p:sp>
        <p:nvSpPr>
          <p:cNvPr id="22" name="Shape 17"/>
          <p:cNvSpPr/>
          <p:nvPr/>
        </p:nvSpPr>
        <p:spPr>
          <a:xfrm>
            <a:off x="6263640" y="4709160"/>
            <a:ext cx="1536192" cy="777240"/>
          </a:xfrm>
          <a:prstGeom prst="roundRect">
            <a:avLst>
              <a:gd name="adj" fmla="val 8235"/>
            </a:avLst>
          </a:prstGeom>
          <a:solidFill>
            <a:srgbClr val="0D1B2A"/>
          </a:solidFill>
          <a:ln/>
        </p:spPr>
      </p:sp>
      <p:sp>
        <p:nvSpPr>
          <p:cNvPr id="23" name="Text 18"/>
          <p:cNvSpPr/>
          <p:nvPr/>
        </p:nvSpPr>
        <p:spPr>
          <a:xfrm>
            <a:off x="6263640" y="4709160"/>
            <a:ext cx="15361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Real Data</a:t>
            </a:r>
            <a:endParaRPr lang="en-US" sz="1150" dirty="0"/>
          </a:p>
        </p:txBody>
      </p:sp>
      <p:sp>
        <p:nvSpPr>
          <p:cNvPr id="24" name="Shape 19"/>
          <p:cNvSpPr/>
          <p:nvPr/>
        </p:nvSpPr>
        <p:spPr>
          <a:xfrm>
            <a:off x="7799832" y="5015484"/>
            <a:ext cx="370332" cy="164592"/>
          </a:xfrm>
          <a:prstGeom prst="rightArrow">
            <a:avLst/>
          </a:prstGeom>
          <a:solidFill>
            <a:srgbClr val="B7C2C9"/>
          </a:solidFill>
          <a:ln/>
        </p:spPr>
      </p:sp>
      <p:sp>
        <p:nvSpPr>
          <p:cNvPr id="25" name="Shape 20"/>
          <p:cNvSpPr/>
          <p:nvPr/>
        </p:nvSpPr>
        <p:spPr>
          <a:xfrm>
            <a:off x="8170164" y="4709160"/>
            <a:ext cx="1536192" cy="777240"/>
          </a:xfrm>
          <a:prstGeom prst="roundRect">
            <a:avLst>
              <a:gd name="adj" fmla="val 8235"/>
            </a:avLst>
          </a:prstGeom>
          <a:solidFill>
            <a:srgbClr val="1B8F84"/>
          </a:solidFill>
          <a:ln/>
        </p:spPr>
      </p:sp>
      <p:sp>
        <p:nvSpPr>
          <p:cNvPr id="26" name="Text 21"/>
          <p:cNvSpPr/>
          <p:nvPr/>
        </p:nvSpPr>
        <p:spPr>
          <a:xfrm>
            <a:off x="8170164" y="4709160"/>
            <a:ext cx="15361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Attack Model</a:t>
            </a:r>
            <a:endParaRPr lang="en-US" sz="1150" dirty="0"/>
          </a:p>
        </p:txBody>
      </p:sp>
      <p:sp>
        <p:nvSpPr>
          <p:cNvPr id="27" name="Shape 22"/>
          <p:cNvSpPr/>
          <p:nvPr/>
        </p:nvSpPr>
        <p:spPr>
          <a:xfrm>
            <a:off x="9706356" y="5015484"/>
            <a:ext cx="370332" cy="164592"/>
          </a:xfrm>
          <a:prstGeom prst="rightArrow">
            <a:avLst/>
          </a:prstGeom>
          <a:solidFill>
            <a:srgbClr val="B7C2C9"/>
          </a:solidFill>
          <a:ln/>
        </p:spPr>
      </p:sp>
      <p:sp>
        <p:nvSpPr>
          <p:cNvPr id="28" name="Shape 23"/>
          <p:cNvSpPr/>
          <p:nvPr/>
        </p:nvSpPr>
        <p:spPr>
          <a:xfrm>
            <a:off x="10076688" y="4709160"/>
            <a:ext cx="1536192" cy="777240"/>
          </a:xfrm>
          <a:prstGeom prst="roundRect">
            <a:avLst>
              <a:gd name="adj" fmla="val 8235"/>
            </a:avLst>
          </a:prstGeom>
          <a:solidFill>
            <a:srgbClr val="9C3B2E"/>
          </a:solidFill>
          <a:ln/>
        </p:spPr>
      </p:sp>
      <p:sp>
        <p:nvSpPr>
          <p:cNvPr id="29" name="Text 24"/>
          <p:cNvSpPr/>
          <p:nvPr/>
        </p:nvSpPr>
        <p:spPr>
          <a:xfrm>
            <a:off x="10076688" y="4709160"/>
            <a:ext cx="15361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Re-identified?</a:t>
            </a:r>
            <a:endParaRPr lang="en-US" sz="1150" dirty="0"/>
          </a:p>
        </p:txBody>
      </p:sp>
      <p:sp>
        <p:nvSpPr>
          <p:cNvPr id="30" name="Text 25"/>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Proposed Plan — Dataset &amp; Attacks</a:t>
            </a:r>
            <a:endParaRPr lang="en-US" sz="1000" dirty="0"/>
          </a:p>
        </p:txBody>
      </p:sp>
      <p:sp>
        <p:nvSpPr>
          <p:cNvPr id="31" name="Text 26"/>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32" name="Text 27"/>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OUR PROPOSED PLAN · PART 2 OF 3</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Defenses to Implement &amp; Case Study</a:t>
            </a:r>
            <a:endParaRPr lang="en-US" sz="4000" dirty="0"/>
          </a:p>
        </p:txBody>
      </p:sp>
      <p:sp>
        <p:nvSpPr>
          <p:cNvPr id="4" name="Text 2"/>
          <p:cNvSpPr/>
          <p:nvPr/>
        </p:nvSpPr>
        <p:spPr>
          <a:xfrm>
            <a:off x="548640" y="1691640"/>
            <a:ext cx="6309360" cy="292608"/>
          </a:xfrm>
          <a:prstGeom prst="rect">
            <a:avLst/>
          </a:prstGeom>
          <a:noFill/>
          <a:ln/>
        </p:spPr>
        <p:txBody>
          <a:bodyPr wrap="square" rtlCol="0" anchor="ctr"/>
          <a:lstStyle/>
          <a:p>
            <a:pPr marL="0" indent="0">
              <a:buNone/>
            </a:pPr>
            <a:r>
              <a:rPr lang="en-US" sz="1600" b="1" kern="0" spc="100" dirty="0">
                <a:solidFill>
                  <a:srgbClr val="1B8F84"/>
                </a:solidFill>
                <a:latin typeface="Calibri" pitchFamily="34" charset="0"/>
                <a:ea typeface="Calibri" pitchFamily="34" charset="-122"/>
                <a:cs typeface="Calibri" pitchFamily="34" charset="-120"/>
              </a:rPr>
              <a:t>DEFENSES TO IMPLEMENT</a:t>
            </a:r>
            <a:endParaRPr lang="en-US" sz="1600" dirty="0"/>
          </a:p>
        </p:txBody>
      </p:sp>
      <p:sp>
        <p:nvSpPr>
          <p:cNvPr id="5" name="Shape 3"/>
          <p:cNvSpPr/>
          <p:nvPr/>
        </p:nvSpPr>
        <p:spPr>
          <a:xfrm>
            <a:off x="548640" y="2011680"/>
            <a:ext cx="6309360" cy="1554480"/>
          </a:xfrm>
          <a:prstGeom prst="roundRect">
            <a:avLst>
              <a:gd name="adj" fmla="val 5294"/>
            </a:avLst>
          </a:prstGeom>
          <a:solidFill>
            <a:srgbClr val="F4F6F7"/>
          </a:solidFill>
          <a:ln/>
        </p:spPr>
      </p:sp>
      <p:sp>
        <p:nvSpPr>
          <p:cNvPr id="6" name="Shape 4"/>
          <p:cNvSpPr/>
          <p:nvPr/>
        </p:nvSpPr>
        <p:spPr>
          <a:xfrm>
            <a:off x="777240" y="2212848"/>
            <a:ext cx="566928" cy="566928"/>
          </a:xfrm>
          <a:prstGeom prst="ellipse">
            <a:avLst/>
          </a:prstGeom>
          <a:solidFill>
            <a:srgbClr val="0D1B2A"/>
          </a:solidFill>
          <a:ln/>
        </p:spPr>
      </p:sp>
      <p:pic>
        <p:nvPicPr>
          <p:cNvPr id="7" name="Image 0" descr="C:\Users\Borshon\Downloads\genomic presentation\icons\sliders.png"/>
          <p:cNvPicPr>
            <a:picLocks noChangeAspect="1"/>
          </p:cNvPicPr>
          <p:nvPr/>
        </p:nvPicPr>
        <p:blipFill>
          <a:blip r:embed="rId3"/>
          <a:stretch>
            <a:fillRect/>
          </a:stretch>
        </p:blipFill>
        <p:spPr>
          <a:xfrm>
            <a:off x="924641" y="2360249"/>
            <a:ext cx="272125" cy="272125"/>
          </a:xfrm>
          <a:prstGeom prst="rect">
            <a:avLst/>
          </a:prstGeom>
        </p:spPr>
      </p:pic>
      <p:sp>
        <p:nvSpPr>
          <p:cNvPr id="8" name="Text 5"/>
          <p:cNvSpPr/>
          <p:nvPr/>
        </p:nvSpPr>
        <p:spPr>
          <a:xfrm>
            <a:off x="1508760" y="2212848"/>
            <a:ext cx="5120640" cy="32004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Differential Privacy</a:t>
            </a:r>
            <a:endParaRPr lang="en-US" dirty="0"/>
          </a:p>
        </p:txBody>
      </p:sp>
      <p:sp>
        <p:nvSpPr>
          <p:cNvPr id="9" name="Text 6"/>
          <p:cNvSpPr/>
          <p:nvPr/>
        </p:nvSpPr>
        <p:spPr>
          <a:xfrm>
            <a:off x="1508760" y="2542032"/>
            <a:ext cx="5120640" cy="868680"/>
          </a:xfrm>
          <a:prstGeom prst="rect">
            <a:avLst/>
          </a:prstGeom>
          <a:noFill/>
          <a:ln/>
        </p:spPr>
        <p:txBody>
          <a:bodyPr wrap="square" rtlCol="0" anchor="t"/>
          <a:lstStyle/>
          <a:p>
            <a:pPr marL="0" indent="0">
              <a:lnSpc>
                <a:spcPct val="120000"/>
              </a:lnSpc>
              <a:buNone/>
            </a:pPr>
            <a:r>
              <a:rPr lang="en-US" sz="1600" dirty="0">
                <a:solidFill>
                  <a:srgbClr val="1B2733"/>
                </a:solidFill>
                <a:latin typeface="Calibri" pitchFamily="34" charset="0"/>
                <a:ea typeface="Calibri" pitchFamily="34" charset="-122"/>
                <a:cs typeface="Calibri" pitchFamily="34" charset="-120"/>
              </a:rPr>
              <a:t>Adds carefully calibrated statistical noise to data or query results before sharing, so no single record can be confidently identified.</a:t>
            </a:r>
            <a:endParaRPr lang="en-US" sz="1600" dirty="0"/>
          </a:p>
        </p:txBody>
      </p:sp>
      <p:sp>
        <p:nvSpPr>
          <p:cNvPr id="19" name="Shape 16"/>
          <p:cNvSpPr/>
          <p:nvPr/>
        </p:nvSpPr>
        <p:spPr>
          <a:xfrm>
            <a:off x="548640" y="3703320"/>
            <a:ext cx="6309360" cy="1554480"/>
          </a:xfrm>
          <a:prstGeom prst="roundRect">
            <a:avLst>
              <a:gd name="adj" fmla="val 5294"/>
            </a:avLst>
          </a:prstGeom>
          <a:solidFill>
            <a:srgbClr val="F4F6F7"/>
          </a:solidFill>
          <a:ln/>
        </p:spPr>
      </p:sp>
      <p:sp>
        <p:nvSpPr>
          <p:cNvPr id="20" name="Shape 17"/>
          <p:cNvSpPr/>
          <p:nvPr/>
        </p:nvSpPr>
        <p:spPr>
          <a:xfrm>
            <a:off x="777240" y="3904488"/>
            <a:ext cx="566928" cy="566928"/>
          </a:xfrm>
          <a:prstGeom prst="ellipse">
            <a:avLst/>
          </a:prstGeom>
          <a:solidFill>
            <a:srgbClr val="0D1B2A"/>
          </a:solidFill>
          <a:ln/>
        </p:spPr>
      </p:sp>
      <p:pic>
        <p:nvPicPr>
          <p:cNvPr id="21" name="Image 1" descr="C:\Users\Borshon\Downloads\genomic presentation\icons\layers.png"/>
          <p:cNvPicPr>
            <a:picLocks noChangeAspect="1"/>
          </p:cNvPicPr>
          <p:nvPr/>
        </p:nvPicPr>
        <p:blipFill>
          <a:blip r:embed="rId3"/>
          <a:stretch>
            <a:fillRect/>
          </a:stretch>
        </p:blipFill>
        <p:spPr>
          <a:xfrm>
            <a:off x="924641" y="4051889"/>
            <a:ext cx="272125" cy="272125"/>
          </a:xfrm>
          <a:prstGeom prst="rect">
            <a:avLst/>
          </a:prstGeom>
        </p:spPr>
      </p:pic>
      <p:sp>
        <p:nvSpPr>
          <p:cNvPr id="22" name="Text 18"/>
          <p:cNvSpPr/>
          <p:nvPr/>
        </p:nvSpPr>
        <p:spPr>
          <a:xfrm>
            <a:off x="1508760" y="3904488"/>
            <a:ext cx="5120640" cy="32004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Synthetic Data Generation</a:t>
            </a:r>
            <a:endParaRPr lang="en-US" dirty="0"/>
          </a:p>
        </p:txBody>
      </p:sp>
      <p:sp>
        <p:nvSpPr>
          <p:cNvPr id="23" name="Text 19"/>
          <p:cNvSpPr/>
          <p:nvPr/>
        </p:nvSpPr>
        <p:spPr>
          <a:xfrm>
            <a:off x="1508760" y="4233672"/>
            <a:ext cx="5120640" cy="868680"/>
          </a:xfrm>
          <a:prstGeom prst="rect">
            <a:avLst/>
          </a:prstGeom>
          <a:noFill/>
          <a:ln/>
        </p:spPr>
        <p:txBody>
          <a:bodyPr wrap="square" rtlCol="0" anchor="t"/>
          <a:lstStyle/>
          <a:p>
            <a:pPr marL="0" indent="0">
              <a:lnSpc>
                <a:spcPct val="120000"/>
              </a:lnSpc>
              <a:buNone/>
            </a:pPr>
            <a:r>
              <a:rPr lang="en-US" sz="1600" dirty="0">
                <a:solidFill>
                  <a:srgbClr val="1B2733"/>
                </a:solidFill>
                <a:latin typeface="Calibri" pitchFamily="34" charset="0"/>
                <a:ea typeface="Calibri" pitchFamily="34" charset="-122"/>
                <a:cs typeface="Calibri" pitchFamily="34" charset="-120"/>
              </a:rPr>
              <a:t>Creates artificial records that mimic the statistical patterns of real genomic data without exposing any real individual’s record.</a:t>
            </a:r>
            <a:endParaRPr lang="en-US" sz="1600" dirty="0"/>
          </a:p>
        </p:txBody>
      </p:sp>
      <p:sp>
        <p:nvSpPr>
          <p:cNvPr id="25" name="Text 21"/>
          <p:cNvSpPr/>
          <p:nvPr/>
        </p:nvSpPr>
        <p:spPr>
          <a:xfrm>
            <a:off x="6949440" y="1691640"/>
            <a:ext cx="4526280" cy="292608"/>
          </a:xfrm>
          <a:prstGeom prst="rect">
            <a:avLst/>
          </a:prstGeom>
          <a:noFill/>
          <a:ln/>
        </p:spPr>
        <p:txBody>
          <a:bodyPr wrap="square" rtlCol="0" anchor="ctr"/>
          <a:lstStyle/>
          <a:p>
            <a:pPr marL="0" indent="0">
              <a:buNone/>
            </a:pPr>
            <a:r>
              <a:rPr lang="en-US" sz="1600" b="1" kern="0" spc="100" dirty="0">
                <a:solidFill>
                  <a:srgbClr val="1B8F84"/>
                </a:solidFill>
                <a:latin typeface="Calibri" pitchFamily="34" charset="0"/>
                <a:ea typeface="Calibri" pitchFamily="34" charset="-122"/>
                <a:cs typeface="Calibri" pitchFamily="34" charset="-120"/>
              </a:rPr>
              <a:t>CASE STUDY</a:t>
            </a:r>
            <a:endParaRPr lang="en-US" sz="1600" dirty="0"/>
          </a:p>
        </p:txBody>
      </p:sp>
      <p:sp>
        <p:nvSpPr>
          <p:cNvPr id="26" name="Shape 22"/>
          <p:cNvSpPr/>
          <p:nvPr/>
        </p:nvSpPr>
        <p:spPr>
          <a:xfrm>
            <a:off x="7086600" y="2011680"/>
            <a:ext cx="4526280" cy="3246120"/>
          </a:xfrm>
          <a:prstGeom prst="roundRect">
            <a:avLst>
              <a:gd name="adj" fmla="val 2535"/>
            </a:avLst>
          </a:prstGeom>
          <a:solidFill>
            <a:srgbClr val="0D1B2A"/>
          </a:solidFill>
          <a:ln/>
        </p:spPr>
        <p:txBody>
          <a:bodyPr/>
          <a:lstStyle/>
          <a:p>
            <a:pPr algn="ctr"/>
            <a:endParaRPr lang="en-US" dirty="0"/>
          </a:p>
        </p:txBody>
      </p:sp>
      <p:sp>
        <p:nvSpPr>
          <p:cNvPr id="27" name="Shape 23"/>
          <p:cNvSpPr/>
          <p:nvPr/>
        </p:nvSpPr>
        <p:spPr>
          <a:xfrm>
            <a:off x="7360920" y="2240280"/>
            <a:ext cx="640080" cy="640080"/>
          </a:xfrm>
          <a:prstGeom prst="ellipse">
            <a:avLst/>
          </a:prstGeom>
          <a:solidFill>
            <a:srgbClr val="1B8F84"/>
          </a:solidFill>
          <a:ln/>
        </p:spPr>
      </p:sp>
      <p:pic>
        <p:nvPicPr>
          <p:cNvPr id="28" name="Image 2" descr="C:\Users\Borshon\Downloads\genomic presentation\icons\unlock.png"/>
          <p:cNvPicPr>
            <a:picLocks noChangeAspect="1"/>
          </p:cNvPicPr>
          <p:nvPr/>
        </p:nvPicPr>
        <p:blipFill>
          <a:blip r:embed="rId3"/>
          <a:stretch>
            <a:fillRect/>
          </a:stretch>
        </p:blipFill>
        <p:spPr>
          <a:xfrm>
            <a:off x="7527341" y="2406701"/>
            <a:ext cx="307238" cy="307238"/>
          </a:xfrm>
          <a:prstGeom prst="rect">
            <a:avLst/>
          </a:prstGeom>
        </p:spPr>
      </p:pic>
      <p:sp>
        <p:nvSpPr>
          <p:cNvPr id="29" name="Text 24"/>
          <p:cNvSpPr/>
          <p:nvPr/>
        </p:nvSpPr>
        <p:spPr>
          <a:xfrm>
            <a:off x="7360920" y="2971800"/>
            <a:ext cx="3977640" cy="36576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23andMe Breach</a:t>
            </a:r>
            <a:endParaRPr lang="en-US" dirty="0"/>
          </a:p>
        </p:txBody>
      </p:sp>
      <p:sp>
        <p:nvSpPr>
          <p:cNvPr id="30" name="Text 25"/>
          <p:cNvSpPr/>
          <p:nvPr/>
        </p:nvSpPr>
        <p:spPr>
          <a:xfrm>
            <a:off x="7360920" y="3343591"/>
            <a:ext cx="4114800" cy="1463040"/>
          </a:xfrm>
          <a:prstGeom prst="rect">
            <a:avLst/>
          </a:prstGeom>
          <a:noFill/>
          <a:ln/>
        </p:spPr>
        <p:txBody>
          <a:bodyPr wrap="square" rtlCol="0" anchor="t"/>
          <a:lstStyle/>
          <a:p>
            <a:pPr marL="0" indent="0" algn="just">
              <a:lnSpc>
                <a:spcPct val="125000"/>
              </a:lnSpc>
              <a:buNone/>
            </a:pPr>
            <a:r>
              <a:rPr lang="en-US" sz="1400" dirty="0">
                <a:solidFill>
                  <a:srgbClr val="E8ECEF"/>
                </a:solidFill>
                <a:latin typeface="Calibri" pitchFamily="34" charset="0"/>
                <a:ea typeface="Calibri" pitchFamily="34" charset="-122"/>
                <a:cs typeface="Calibri" pitchFamily="34" charset="-120"/>
              </a:rPr>
              <a:t>We analyze the 2023 breach and connect it directly to the same type of re-identification risk demonstrated in our attack demo — showing the real-world stakes behind the technical work.</a:t>
            </a:r>
            <a:endParaRPr lang="en-US" sz="1400" dirty="0"/>
          </a:p>
        </p:txBody>
      </p:sp>
      <p:sp>
        <p:nvSpPr>
          <p:cNvPr id="31" name="Shape 26"/>
          <p:cNvSpPr/>
          <p:nvPr/>
        </p:nvSpPr>
        <p:spPr>
          <a:xfrm>
            <a:off x="7360920" y="4572000"/>
            <a:ext cx="3977640" cy="0"/>
          </a:xfrm>
          <a:prstGeom prst="line">
            <a:avLst/>
          </a:prstGeom>
          <a:noFill/>
          <a:ln w="12700">
            <a:solidFill>
              <a:srgbClr val="33475A"/>
            </a:solidFill>
            <a:prstDash val="solid"/>
          </a:ln>
        </p:spPr>
        <p:txBody>
          <a:bodyPr/>
          <a:lstStyle/>
          <a:p>
            <a:endParaRPr lang="en-US" dirty="0"/>
          </a:p>
        </p:txBody>
      </p:sp>
      <p:sp>
        <p:nvSpPr>
          <p:cNvPr id="32" name="Text 27"/>
          <p:cNvSpPr/>
          <p:nvPr/>
        </p:nvSpPr>
        <p:spPr>
          <a:xfrm>
            <a:off x="7498080" y="4572000"/>
            <a:ext cx="3977640" cy="548640"/>
          </a:xfrm>
          <a:prstGeom prst="rect">
            <a:avLst/>
          </a:prstGeom>
          <a:noFill/>
          <a:ln/>
        </p:spPr>
        <p:txBody>
          <a:bodyPr wrap="square" rtlCol="0" anchor="ctr"/>
          <a:lstStyle/>
          <a:p>
            <a:pPr marL="0" indent="0" algn="ctr">
              <a:buNone/>
            </a:pPr>
            <a:r>
              <a:rPr lang="en-US" sz="1400" i="1" dirty="0">
                <a:solidFill>
                  <a:srgbClr val="2EC4B6"/>
                </a:solidFill>
                <a:latin typeface="Calibri" pitchFamily="34" charset="0"/>
                <a:ea typeface="Calibri" pitchFamily="34" charset="-122"/>
                <a:cs typeface="Calibri" pitchFamily="34" charset="-120"/>
              </a:rPr>
              <a:t>Millions of related profiles reached via credential stuffing + "DNA Relatives"</a:t>
            </a:r>
            <a:endParaRPr lang="en-US" sz="1400" dirty="0"/>
          </a:p>
        </p:txBody>
      </p:sp>
      <p:sp>
        <p:nvSpPr>
          <p:cNvPr id="33" name="Text 28"/>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Proposed Plan — Defenses &amp; Case Study</a:t>
            </a:r>
            <a:endParaRPr lang="en-US" sz="1000" dirty="0"/>
          </a:p>
        </p:txBody>
      </p:sp>
      <p:sp>
        <p:nvSpPr>
          <p:cNvPr id="34" name="Text 29"/>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35" name="Text 30"/>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OUR PROPOSED PLAN · PART 3 OF 3</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Comparison, Tradeoff &amp; Deliverable</a:t>
            </a:r>
            <a:endParaRPr lang="en-US" sz="4000" dirty="0"/>
          </a:p>
        </p:txBody>
      </p:sp>
      <p:sp>
        <p:nvSpPr>
          <p:cNvPr id="4" name="Text 2"/>
          <p:cNvSpPr/>
          <p:nvPr/>
        </p:nvSpPr>
        <p:spPr>
          <a:xfrm>
            <a:off x="548640" y="1488429"/>
            <a:ext cx="6583680" cy="292608"/>
          </a:xfrm>
          <a:prstGeom prst="rect">
            <a:avLst/>
          </a:prstGeom>
          <a:noFill/>
          <a:ln/>
        </p:spPr>
        <p:txBody>
          <a:bodyPr wrap="square" rtlCol="0" anchor="ctr"/>
          <a:lstStyle/>
          <a:p>
            <a:pPr marL="0" indent="0">
              <a:buNone/>
            </a:pPr>
            <a:r>
              <a:rPr lang="en-US" sz="1600" b="1" kern="0" spc="50" dirty="0">
                <a:solidFill>
                  <a:srgbClr val="1B8F84"/>
                </a:solidFill>
                <a:latin typeface="Calibri" pitchFamily="34" charset="0"/>
                <a:ea typeface="Calibri" pitchFamily="34" charset="-122"/>
                <a:cs typeface="Calibri" pitchFamily="34" charset="-120"/>
              </a:rPr>
              <a:t>ATTACK SUCCESS RATE: ILLUSTRATIVE FRAMEWORK</a:t>
            </a:r>
            <a:endParaRPr lang="en-US" sz="1600" dirty="0"/>
          </a:p>
        </p:txBody>
      </p:sp>
      <p:sp>
        <p:nvSpPr>
          <p:cNvPr id="5" name="Text 3"/>
          <p:cNvSpPr/>
          <p:nvPr/>
        </p:nvSpPr>
        <p:spPr>
          <a:xfrm>
            <a:off x="548640" y="1812555"/>
            <a:ext cx="6583680" cy="256032"/>
          </a:xfrm>
          <a:prstGeom prst="rect">
            <a:avLst/>
          </a:prstGeom>
          <a:noFill/>
          <a:ln/>
        </p:spPr>
        <p:txBody>
          <a:bodyPr wrap="square" rtlCol="0" anchor="ctr"/>
          <a:lstStyle/>
          <a:p>
            <a:pPr marL="0" indent="0">
              <a:buNone/>
            </a:pPr>
            <a:r>
              <a:rPr lang="en-US" sz="1050" i="1" dirty="0">
                <a:solidFill>
                  <a:srgbClr val="5B6B77"/>
                </a:solidFill>
                <a:latin typeface="Calibri" pitchFamily="34" charset="0"/>
                <a:ea typeface="Calibri" pitchFamily="34" charset="-122"/>
                <a:cs typeface="Calibri" pitchFamily="34" charset="-120"/>
              </a:rPr>
              <a:t>(conceptual framework: real values to be measured during experiments)</a:t>
            </a:r>
            <a:endParaRPr lang="en-US" sz="1050" dirty="0"/>
          </a:p>
        </p:txBody>
      </p:sp>
      <p:graphicFrame>
        <p:nvGraphicFramePr>
          <p:cNvPr id="6" name="Chart 0"/>
          <p:cNvGraphicFramePr/>
          <p:nvPr>
            <p:extLst>
              <p:ext uri="{D42A27DB-BD31-4B8C-83A1-F6EECF244321}">
                <p14:modId xmlns:p14="http://schemas.microsoft.com/office/powerpoint/2010/main" val="1984693743"/>
              </p:ext>
            </p:extLst>
          </p:nvPr>
        </p:nvGraphicFramePr>
        <p:xfrm>
          <a:off x="548640" y="2129530"/>
          <a:ext cx="65836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98080" y="1691640"/>
            <a:ext cx="4114800" cy="1874520"/>
          </a:xfrm>
          <a:prstGeom prst="roundRect">
            <a:avLst>
              <a:gd name="adj" fmla="val 4390"/>
            </a:avLst>
          </a:prstGeom>
          <a:solidFill>
            <a:srgbClr val="F4F6F7"/>
          </a:solidFill>
          <a:ln/>
        </p:spPr>
      </p:sp>
      <p:sp>
        <p:nvSpPr>
          <p:cNvPr id="8" name="Shape 5"/>
          <p:cNvSpPr/>
          <p:nvPr/>
        </p:nvSpPr>
        <p:spPr>
          <a:xfrm>
            <a:off x="7726680" y="1901952"/>
            <a:ext cx="502920" cy="502920"/>
          </a:xfrm>
          <a:prstGeom prst="ellipse">
            <a:avLst/>
          </a:prstGeom>
          <a:solidFill>
            <a:srgbClr val="0D1B2A"/>
          </a:solidFill>
          <a:ln/>
        </p:spPr>
      </p:sp>
      <p:pic>
        <p:nvPicPr>
          <p:cNvPr id="9" name="Image 0" descr="C:\Users\Borshon\Downloads\genomic presentation\icons\activity.png"/>
          <p:cNvPicPr>
            <a:picLocks noChangeAspect="1"/>
          </p:cNvPicPr>
          <p:nvPr/>
        </p:nvPicPr>
        <p:blipFill>
          <a:blip r:embed="rId4"/>
          <a:stretch>
            <a:fillRect/>
          </a:stretch>
        </p:blipFill>
        <p:spPr>
          <a:xfrm>
            <a:off x="7857439" y="2032711"/>
            <a:ext cx="241402" cy="241402"/>
          </a:xfrm>
          <a:prstGeom prst="rect">
            <a:avLst/>
          </a:prstGeom>
        </p:spPr>
      </p:pic>
      <p:sp>
        <p:nvSpPr>
          <p:cNvPr id="10" name="Text 6"/>
          <p:cNvSpPr/>
          <p:nvPr/>
        </p:nvSpPr>
        <p:spPr>
          <a:xfrm>
            <a:off x="8360359" y="1946650"/>
            <a:ext cx="2971800" cy="365760"/>
          </a:xfrm>
          <a:prstGeom prst="rect">
            <a:avLst/>
          </a:prstGeom>
          <a:noFill/>
          <a:ln/>
        </p:spPr>
        <p:txBody>
          <a:bodyPr wrap="square" rtlCol="0" anchor="t"/>
          <a:lstStyle/>
          <a:p>
            <a:pPr marL="0" indent="0">
              <a:buNone/>
            </a:pPr>
            <a:r>
              <a:rPr lang="en-US" b="1" dirty="0">
                <a:solidFill>
                  <a:srgbClr val="0D1B2A"/>
                </a:solidFill>
                <a:latin typeface="Calibri" pitchFamily="34" charset="0"/>
                <a:ea typeface="Calibri" pitchFamily="34" charset="-122"/>
                <a:cs typeface="Calibri" pitchFamily="34" charset="-120"/>
              </a:rPr>
              <a:t>Privacy–Utility Tradeoff</a:t>
            </a:r>
            <a:endParaRPr lang="en-US" dirty="0"/>
          </a:p>
        </p:txBody>
      </p:sp>
      <p:sp>
        <p:nvSpPr>
          <p:cNvPr id="11" name="Text 7"/>
          <p:cNvSpPr/>
          <p:nvPr/>
        </p:nvSpPr>
        <p:spPr>
          <a:xfrm>
            <a:off x="7726680" y="2423160"/>
            <a:ext cx="3657600" cy="1097280"/>
          </a:xfrm>
          <a:prstGeom prst="rect">
            <a:avLst/>
          </a:prstGeom>
          <a:noFill/>
          <a:ln/>
        </p:spPr>
        <p:txBody>
          <a:bodyPr wrap="square" rtlCol="0" anchor="t"/>
          <a:lstStyle/>
          <a:p>
            <a:pPr marL="0" indent="0">
              <a:lnSpc>
                <a:spcPct val="120000"/>
              </a:lnSpc>
              <a:buNone/>
            </a:pPr>
            <a:r>
              <a:rPr lang="en-US" sz="1600" dirty="0">
                <a:solidFill>
                  <a:srgbClr val="1B2733"/>
                </a:solidFill>
                <a:latin typeface="Calibri" pitchFamily="34" charset="0"/>
                <a:ea typeface="Calibri" pitchFamily="34" charset="-122"/>
                <a:cs typeface="Calibri" pitchFamily="34" charset="-120"/>
              </a:rPr>
              <a:t>More protection reduces re-identification risk, but also reduces how useful the data remains for research.</a:t>
            </a:r>
            <a:endParaRPr lang="en-US" sz="1600" dirty="0"/>
          </a:p>
        </p:txBody>
      </p:sp>
      <p:sp>
        <p:nvSpPr>
          <p:cNvPr id="12" name="Shape 8"/>
          <p:cNvSpPr/>
          <p:nvPr/>
        </p:nvSpPr>
        <p:spPr>
          <a:xfrm>
            <a:off x="7498080" y="3703320"/>
            <a:ext cx="4114800" cy="1737360"/>
          </a:xfrm>
          <a:prstGeom prst="roundRect">
            <a:avLst>
              <a:gd name="adj" fmla="val 4737"/>
            </a:avLst>
          </a:prstGeom>
          <a:solidFill>
            <a:srgbClr val="0D1B2A"/>
          </a:solidFill>
          <a:ln/>
        </p:spPr>
      </p:sp>
      <p:sp>
        <p:nvSpPr>
          <p:cNvPr id="13" name="Shape 9"/>
          <p:cNvSpPr/>
          <p:nvPr/>
        </p:nvSpPr>
        <p:spPr>
          <a:xfrm>
            <a:off x="7726680" y="3913632"/>
            <a:ext cx="502920" cy="502920"/>
          </a:xfrm>
          <a:prstGeom prst="ellipse">
            <a:avLst/>
          </a:prstGeom>
          <a:solidFill>
            <a:srgbClr val="1B8F84"/>
          </a:solidFill>
          <a:ln/>
        </p:spPr>
      </p:sp>
      <p:pic>
        <p:nvPicPr>
          <p:cNvPr id="14" name="Image 1" descr="C:\Users\Borshon\Downloads\genomic presentation\icons\filetext.png"/>
          <p:cNvPicPr>
            <a:picLocks noChangeAspect="1"/>
          </p:cNvPicPr>
          <p:nvPr/>
        </p:nvPicPr>
        <p:blipFill>
          <a:blip r:embed="rId4"/>
          <a:stretch>
            <a:fillRect/>
          </a:stretch>
        </p:blipFill>
        <p:spPr>
          <a:xfrm>
            <a:off x="7857439" y="4044391"/>
            <a:ext cx="241402" cy="241402"/>
          </a:xfrm>
          <a:prstGeom prst="rect">
            <a:avLst/>
          </a:prstGeom>
        </p:spPr>
      </p:pic>
      <p:sp>
        <p:nvSpPr>
          <p:cNvPr id="15" name="Text 10"/>
          <p:cNvSpPr/>
          <p:nvPr/>
        </p:nvSpPr>
        <p:spPr>
          <a:xfrm>
            <a:off x="8360359" y="3965967"/>
            <a:ext cx="2971800" cy="365760"/>
          </a:xfrm>
          <a:prstGeom prst="rect">
            <a:avLst/>
          </a:prstGeom>
          <a:noFill/>
          <a:ln/>
        </p:spPr>
        <p:txBody>
          <a:bodyPr wrap="square" rtlCol="0" anchor="t"/>
          <a:lstStyle/>
          <a:p>
            <a:pPr marL="0" indent="0">
              <a:buNone/>
            </a:pPr>
            <a:r>
              <a:rPr lang="en-US" b="1" dirty="0">
                <a:solidFill>
                  <a:srgbClr val="FFFFFF"/>
                </a:solidFill>
                <a:latin typeface="Calibri" pitchFamily="34" charset="0"/>
                <a:ea typeface="Calibri" pitchFamily="34" charset="-122"/>
                <a:cs typeface="Calibri" pitchFamily="34" charset="-120"/>
              </a:rPr>
              <a:t>Deliverables</a:t>
            </a:r>
            <a:endParaRPr lang="en-US" dirty="0"/>
          </a:p>
        </p:txBody>
      </p:sp>
      <p:sp>
        <p:nvSpPr>
          <p:cNvPr id="16" name="Text 11"/>
          <p:cNvSpPr/>
          <p:nvPr/>
        </p:nvSpPr>
        <p:spPr>
          <a:xfrm>
            <a:off x="7726680" y="4434840"/>
            <a:ext cx="3657600" cy="1005840"/>
          </a:xfrm>
          <a:prstGeom prst="rect">
            <a:avLst/>
          </a:prstGeom>
          <a:noFill/>
          <a:ln/>
        </p:spPr>
        <p:txBody>
          <a:bodyPr wrap="square" rtlCol="0" anchor="t"/>
          <a:lstStyle/>
          <a:p>
            <a:pPr marL="342900" indent="-342900">
              <a:spcAft>
                <a:spcPts val="600"/>
              </a:spcAft>
              <a:buSzPct val="100000"/>
              <a:buChar char="•"/>
            </a:pPr>
            <a:r>
              <a:rPr lang="en-US" sz="1600" dirty="0">
                <a:solidFill>
                  <a:srgbClr val="E8ECEF"/>
                </a:solidFill>
                <a:latin typeface="Calibri" pitchFamily="34" charset="0"/>
                <a:ea typeface="Calibri" pitchFamily="34" charset="-122"/>
                <a:cs typeface="Calibri" pitchFamily="34" charset="-120"/>
              </a:rPr>
              <a:t>Small results dashboard (before/after charts)</a:t>
            </a:r>
            <a:endParaRPr lang="en-US" sz="1600" dirty="0"/>
          </a:p>
          <a:p>
            <a:pPr marL="342900" indent="-342900">
              <a:spcAft>
                <a:spcPts val="600"/>
              </a:spcAft>
              <a:buSzPct val="100000"/>
              <a:buChar char="•"/>
            </a:pPr>
            <a:r>
              <a:rPr lang="en-US" sz="1600" dirty="0">
                <a:solidFill>
                  <a:srgbClr val="E8ECEF"/>
                </a:solidFill>
                <a:latin typeface="Calibri" pitchFamily="34" charset="0"/>
                <a:ea typeface="Calibri" pitchFamily="34" charset="-122"/>
                <a:cs typeface="Calibri" pitchFamily="34" charset="-120"/>
              </a:rPr>
              <a:t>Final written report</a:t>
            </a:r>
            <a:endParaRPr lang="en-US" sz="1600" dirty="0"/>
          </a:p>
        </p:txBody>
      </p:sp>
      <p:sp>
        <p:nvSpPr>
          <p:cNvPr id="17" name="Text 12"/>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Proposed Plan — Comparison &amp; Deliverable</a:t>
            </a:r>
            <a:endParaRPr lang="en-US" sz="1000" dirty="0"/>
          </a:p>
        </p:txBody>
      </p:sp>
      <p:sp>
        <p:nvSpPr>
          <p:cNvPr id="18" name="Text 13"/>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19" name="Text 14"/>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B8F84"/>
                </a:solidFill>
                <a:latin typeface="Calibri" pitchFamily="34" charset="0"/>
                <a:ea typeface="Calibri" pitchFamily="34" charset="-122"/>
                <a:cs typeface="Calibri" pitchFamily="34" charset="-120"/>
              </a:rPr>
              <a:t>WHAT WE EXPECT TO SHOW</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4000" b="1" dirty="0">
                <a:solidFill>
                  <a:srgbClr val="0D1B2A"/>
                </a:solidFill>
                <a:latin typeface="Cambria" pitchFamily="34" charset="0"/>
                <a:ea typeface="Cambria" pitchFamily="34" charset="-122"/>
                <a:cs typeface="Cambria" pitchFamily="34" charset="-120"/>
              </a:rPr>
              <a:t>Expected Outcome</a:t>
            </a:r>
            <a:endParaRPr lang="en-US" sz="4000" dirty="0"/>
          </a:p>
        </p:txBody>
      </p:sp>
      <p:grpSp>
        <p:nvGrpSpPr>
          <p:cNvPr id="22" name="Group 21">
            <a:extLst>
              <a:ext uri="{FF2B5EF4-FFF2-40B4-BE49-F238E27FC236}">
                <a16:creationId xmlns:a16="http://schemas.microsoft.com/office/drawing/2014/main" id="{5D484D51-070C-9E36-361A-B6A1F18BE404}"/>
              </a:ext>
            </a:extLst>
          </p:cNvPr>
          <p:cNvGrpSpPr/>
          <p:nvPr/>
        </p:nvGrpSpPr>
        <p:grpSpPr>
          <a:xfrm>
            <a:off x="548640" y="1520530"/>
            <a:ext cx="11064240" cy="1314110"/>
            <a:chOff x="548640" y="1520530"/>
            <a:chExt cx="11064240" cy="1314110"/>
          </a:xfrm>
        </p:grpSpPr>
        <p:sp>
          <p:nvSpPr>
            <p:cNvPr id="4" name="Shape 2"/>
            <p:cNvSpPr/>
            <p:nvPr/>
          </p:nvSpPr>
          <p:spPr>
            <a:xfrm>
              <a:off x="548640" y="1520530"/>
              <a:ext cx="11064240" cy="1314110"/>
            </a:xfrm>
            <a:prstGeom prst="roundRect">
              <a:avLst>
                <a:gd name="adj" fmla="val 6667"/>
              </a:avLst>
            </a:prstGeom>
            <a:solidFill>
              <a:srgbClr val="F4F6F7"/>
            </a:solidFill>
            <a:ln/>
          </p:spPr>
          <p:txBody>
            <a:bodyPr/>
            <a:lstStyle/>
            <a:p>
              <a:endParaRPr lang="en-US" dirty="0"/>
            </a:p>
          </p:txBody>
        </p:sp>
        <p:sp>
          <p:nvSpPr>
            <p:cNvPr id="5" name="Shape 3"/>
            <p:cNvSpPr/>
            <p:nvPr/>
          </p:nvSpPr>
          <p:spPr>
            <a:xfrm>
              <a:off x="777240" y="1776562"/>
              <a:ext cx="713232" cy="713232"/>
            </a:xfrm>
            <a:prstGeom prst="ellipse">
              <a:avLst/>
            </a:prstGeom>
            <a:solidFill>
              <a:srgbClr val="0D1B2A"/>
            </a:solidFill>
            <a:ln/>
          </p:spPr>
        </p:sp>
        <p:pic>
          <p:nvPicPr>
            <p:cNvPr id="6" name="Image 0" descr="C:\Users\Borshon\Downloads\genomic presentation\icons\check.png"/>
            <p:cNvPicPr>
              <a:picLocks noChangeAspect="1"/>
            </p:cNvPicPr>
            <p:nvPr/>
          </p:nvPicPr>
          <p:blipFill>
            <a:blip r:embed="rId3"/>
            <a:stretch>
              <a:fillRect/>
            </a:stretch>
          </p:blipFill>
          <p:spPr>
            <a:xfrm>
              <a:off x="962680" y="1962002"/>
              <a:ext cx="342351" cy="342351"/>
            </a:xfrm>
            <a:prstGeom prst="rect">
              <a:avLst/>
            </a:prstGeom>
          </p:spPr>
        </p:pic>
        <p:sp>
          <p:nvSpPr>
            <p:cNvPr id="7" name="Text 4"/>
            <p:cNvSpPr/>
            <p:nvPr/>
          </p:nvSpPr>
          <p:spPr>
            <a:xfrm>
              <a:off x="1691640" y="1685122"/>
              <a:ext cx="9692640" cy="365760"/>
            </a:xfrm>
            <a:prstGeom prst="rect">
              <a:avLst/>
            </a:prstGeom>
            <a:noFill/>
            <a:ln/>
          </p:spPr>
          <p:txBody>
            <a:bodyPr wrap="square" rtlCol="0" anchor="t"/>
            <a:lstStyle/>
            <a:p>
              <a:pPr marL="0" indent="0">
                <a:buNone/>
              </a:pPr>
              <a:r>
                <a:rPr lang="en-US" sz="2000" b="1" dirty="0">
                  <a:solidFill>
                    <a:srgbClr val="0D1B2A"/>
                  </a:solidFill>
                  <a:latin typeface="Calibri" pitchFamily="34" charset="0"/>
                  <a:ea typeface="Calibri" pitchFamily="34" charset="-122"/>
                  <a:cs typeface="Calibri" pitchFamily="34" charset="-120"/>
                </a:rPr>
                <a:t>Working small-scale demonstration</a:t>
              </a:r>
              <a:endParaRPr lang="en-US" sz="2000" dirty="0"/>
            </a:p>
          </p:txBody>
        </p:sp>
        <p:sp>
          <p:nvSpPr>
            <p:cNvPr id="8" name="Text 5"/>
            <p:cNvSpPr/>
            <p:nvPr/>
          </p:nvSpPr>
          <p:spPr>
            <a:xfrm>
              <a:off x="1691640" y="2069170"/>
              <a:ext cx="9692640" cy="594360"/>
            </a:xfrm>
            <a:prstGeom prst="rect">
              <a:avLst/>
            </a:prstGeom>
            <a:noFill/>
            <a:ln/>
          </p:spPr>
          <p:txBody>
            <a:bodyPr wrap="square" rtlCol="0" anchor="t"/>
            <a:lstStyle/>
            <a:p>
              <a:pPr marL="0" indent="0">
                <a:lnSpc>
                  <a:spcPct val="115000"/>
                </a:lnSpc>
                <a:buNone/>
              </a:pPr>
              <a:r>
                <a:rPr lang="en-US" dirty="0">
                  <a:solidFill>
                    <a:srgbClr val="1B2733"/>
                  </a:solidFill>
                  <a:latin typeface="Calibri" pitchFamily="34" charset="0"/>
                  <a:ea typeface="Calibri" pitchFamily="34" charset="-122"/>
                  <a:cs typeface="Calibri" pitchFamily="34" charset="-120"/>
                </a:rPr>
                <a:t>Not a new research method — a clear, hands-on demo of how re-identification attacks work and how much two common defenses reduce the risk.</a:t>
              </a:r>
              <a:endParaRPr lang="en-US" dirty="0"/>
            </a:p>
          </p:txBody>
        </p:sp>
      </p:grpSp>
      <p:grpSp>
        <p:nvGrpSpPr>
          <p:cNvPr id="23" name="Group 22">
            <a:extLst>
              <a:ext uri="{FF2B5EF4-FFF2-40B4-BE49-F238E27FC236}">
                <a16:creationId xmlns:a16="http://schemas.microsoft.com/office/drawing/2014/main" id="{2114690F-02F5-158C-493C-1B828222DA46}"/>
              </a:ext>
            </a:extLst>
          </p:cNvPr>
          <p:cNvGrpSpPr/>
          <p:nvPr/>
        </p:nvGrpSpPr>
        <p:grpSpPr>
          <a:xfrm>
            <a:off x="548640" y="3200400"/>
            <a:ext cx="11064240" cy="1234440"/>
            <a:chOff x="548640" y="3200400"/>
            <a:chExt cx="11064240" cy="1234440"/>
          </a:xfrm>
        </p:grpSpPr>
        <p:sp>
          <p:nvSpPr>
            <p:cNvPr id="9" name="Shape 6"/>
            <p:cNvSpPr/>
            <p:nvPr/>
          </p:nvSpPr>
          <p:spPr>
            <a:xfrm>
              <a:off x="548640" y="3200400"/>
              <a:ext cx="11064240" cy="1234440"/>
            </a:xfrm>
            <a:prstGeom prst="roundRect">
              <a:avLst>
                <a:gd name="adj" fmla="val 6667"/>
              </a:avLst>
            </a:prstGeom>
            <a:solidFill>
              <a:srgbClr val="F4F6F7"/>
            </a:solidFill>
            <a:ln/>
          </p:spPr>
        </p:sp>
        <p:sp>
          <p:nvSpPr>
            <p:cNvPr id="10" name="Shape 7"/>
            <p:cNvSpPr/>
            <p:nvPr/>
          </p:nvSpPr>
          <p:spPr>
            <a:xfrm>
              <a:off x="777240" y="3456432"/>
              <a:ext cx="713232" cy="713232"/>
            </a:xfrm>
            <a:prstGeom prst="ellipse">
              <a:avLst/>
            </a:prstGeom>
            <a:solidFill>
              <a:srgbClr val="0D1B2A"/>
            </a:solidFill>
            <a:ln/>
          </p:spPr>
        </p:sp>
        <p:pic>
          <p:nvPicPr>
            <p:cNvPr id="11" name="Image 1" descr="C:\Users\Borshon\Downloads\genomic presentation\icons\barchart.png"/>
            <p:cNvPicPr>
              <a:picLocks noChangeAspect="1"/>
            </p:cNvPicPr>
            <p:nvPr/>
          </p:nvPicPr>
          <p:blipFill>
            <a:blip r:embed="rId3"/>
            <a:stretch>
              <a:fillRect/>
            </a:stretch>
          </p:blipFill>
          <p:spPr>
            <a:xfrm>
              <a:off x="962680" y="3641872"/>
              <a:ext cx="342351" cy="342351"/>
            </a:xfrm>
            <a:prstGeom prst="rect">
              <a:avLst/>
            </a:prstGeom>
          </p:spPr>
        </p:pic>
        <p:sp>
          <p:nvSpPr>
            <p:cNvPr id="12" name="Text 8"/>
            <p:cNvSpPr/>
            <p:nvPr/>
          </p:nvSpPr>
          <p:spPr>
            <a:xfrm>
              <a:off x="1691640" y="3364992"/>
              <a:ext cx="9692640" cy="365760"/>
            </a:xfrm>
            <a:prstGeom prst="rect">
              <a:avLst/>
            </a:prstGeom>
            <a:noFill/>
            <a:ln/>
          </p:spPr>
          <p:txBody>
            <a:bodyPr wrap="square" rtlCol="0" anchor="t"/>
            <a:lstStyle/>
            <a:p>
              <a:pPr marL="0" indent="0">
                <a:buNone/>
              </a:pPr>
              <a:r>
                <a:rPr lang="en-US" sz="2000" b="1" dirty="0">
                  <a:solidFill>
                    <a:srgbClr val="0D1B2A"/>
                  </a:solidFill>
                  <a:latin typeface="Calibri" pitchFamily="34" charset="0"/>
                  <a:ea typeface="Calibri" pitchFamily="34" charset="-122"/>
                  <a:cs typeface="Calibri" pitchFamily="34" charset="-120"/>
                </a:rPr>
                <a:t>Clear before/after evidence</a:t>
              </a:r>
              <a:endParaRPr lang="en-US" sz="2000" dirty="0"/>
            </a:p>
          </p:txBody>
        </p:sp>
        <p:sp>
          <p:nvSpPr>
            <p:cNvPr id="13" name="Text 9"/>
            <p:cNvSpPr/>
            <p:nvPr/>
          </p:nvSpPr>
          <p:spPr>
            <a:xfrm>
              <a:off x="1691640" y="3749040"/>
              <a:ext cx="9692640" cy="594360"/>
            </a:xfrm>
            <a:prstGeom prst="rect">
              <a:avLst/>
            </a:prstGeom>
            <a:noFill/>
            <a:ln/>
          </p:spPr>
          <p:txBody>
            <a:bodyPr wrap="square" rtlCol="0" anchor="t"/>
            <a:lstStyle/>
            <a:p>
              <a:pPr marL="0" indent="0">
                <a:lnSpc>
                  <a:spcPct val="115000"/>
                </a:lnSpc>
                <a:buNone/>
              </a:pPr>
              <a:r>
                <a:rPr lang="en-US" dirty="0">
                  <a:solidFill>
                    <a:srgbClr val="1B2733"/>
                  </a:solidFill>
                  <a:latin typeface="Calibri" pitchFamily="34" charset="0"/>
                  <a:ea typeface="Calibri" pitchFamily="34" charset="-122"/>
                  <a:cs typeface="Calibri" pitchFamily="34" charset="-120"/>
                </a:rPr>
                <a:t>Numbers and graphs comparing attack success rate before and after each defense is applied.</a:t>
              </a:r>
              <a:endParaRPr lang="en-US" dirty="0"/>
            </a:p>
          </p:txBody>
        </p:sp>
      </p:grpSp>
      <p:sp>
        <p:nvSpPr>
          <p:cNvPr id="14" name="Shape 10"/>
          <p:cNvSpPr/>
          <p:nvPr/>
        </p:nvSpPr>
        <p:spPr>
          <a:xfrm>
            <a:off x="548640" y="4617720"/>
            <a:ext cx="11064240" cy="1234440"/>
          </a:xfrm>
          <a:prstGeom prst="roundRect">
            <a:avLst>
              <a:gd name="adj" fmla="val 6667"/>
            </a:avLst>
          </a:prstGeom>
          <a:solidFill>
            <a:srgbClr val="F4F6F7"/>
          </a:solidFill>
          <a:ln/>
        </p:spPr>
      </p:sp>
      <p:grpSp>
        <p:nvGrpSpPr>
          <p:cNvPr id="24" name="Group 23">
            <a:extLst>
              <a:ext uri="{FF2B5EF4-FFF2-40B4-BE49-F238E27FC236}">
                <a16:creationId xmlns:a16="http://schemas.microsoft.com/office/drawing/2014/main" id="{0FD43985-734E-AA18-AEBE-35FDC0FF4143}"/>
              </a:ext>
            </a:extLst>
          </p:cNvPr>
          <p:cNvGrpSpPr/>
          <p:nvPr/>
        </p:nvGrpSpPr>
        <p:grpSpPr>
          <a:xfrm>
            <a:off x="777240" y="4782312"/>
            <a:ext cx="10607040" cy="978408"/>
            <a:chOff x="777240" y="4782312"/>
            <a:chExt cx="10607040" cy="978408"/>
          </a:xfrm>
        </p:grpSpPr>
        <p:sp>
          <p:nvSpPr>
            <p:cNvPr id="15" name="Shape 11"/>
            <p:cNvSpPr/>
            <p:nvPr/>
          </p:nvSpPr>
          <p:spPr>
            <a:xfrm>
              <a:off x="777240" y="4873752"/>
              <a:ext cx="713232" cy="713232"/>
            </a:xfrm>
            <a:prstGeom prst="ellipse">
              <a:avLst/>
            </a:prstGeom>
            <a:solidFill>
              <a:srgbClr val="0D1B2A"/>
            </a:solidFill>
            <a:ln/>
          </p:spPr>
        </p:sp>
        <p:pic>
          <p:nvPicPr>
            <p:cNvPr id="16" name="Image 2" descr="C:\Users\Borshon\Downloads\genomic presentation\icons\gitbranch.png"/>
            <p:cNvPicPr>
              <a:picLocks noChangeAspect="1"/>
            </p:cNvPicPr>
            <p:nvPr/>
          </p:nvPicPr>
          <p:blipFill>
            <a:blip r:embed="rId3"/>
            <a:stretch>
              <a:fillRect/>
            </a:stretch>
          </p:blipFill>
          <p:spPr>
            <a:xfrm>
              <a:off x="962680" y="5059192"/>
              <a:ext cx="342351" cy="342351"/>
            </a:xfrm>
            <a:prstGeom prst="rect">
              <a:avLst/>
            </a:prstGeom>
          </p:spPr>
        </p:pic>
        <p:sp>
          <p:nvSpPr>
            <p:cNvPr id="17" name="Text 12"/>
            <p:cNvSpPr/>
            <p:nvPr/>
          </p:nvSpPr>
          <p:spPr>
            <a:xfrm>
              <a:off x="1691640" y="4782312"/>
              <a:ext cx="9692640" cy="365760"/>
            </a:xfrm>
            <a:prstGeom prst="rect">
              <a:avLst/>
            </a:prstGeom>
            <a:noFill/>
            <a:ln/>
          </p:spPr>
          <p:txBody>
            <a:bodyPr wrap="square" rtlCol="0" anchor="t"/>
            <a:lstStyle/>
            <a:p>
              <a:pPr marL="0" indent="0">
                <a:buNone/>
              </a:pPr>
              <a:r>
                <a:rPr lang="en-US" sz="2000" b="1" dirty="0">
                  <a:solidFill>
                    <a:srgbClr val="0D1B2A"/>
                  </a:solidFill>
                  <a:latin typeface="Calibri" pitchFamily="34" charset="0"/>
                  <a:ea typeface="Calibri" pitchFamily="34" charset="-122"/>
                  <a:cs typeface="Calibri" pitchFamily="34" charset="-120"/>
                </a:rPr>
                <a:t>A direct link to a real incident</a:t>
              </a:r>
              <a:endParaRPr lang="en-US" sz="2000" dirty="0"/>
            </a:p>
          </p:txBody>
        </p:sp>
        <p:sp>
          <p:nvSpPr>
            <p:cNvPr id="18" name="Text 13"/>
            <p:cNvSpPr/>
            <p:nvPr/>
          </p:nvSpPr>
          <p:spPr>
            <a:xfrm>
              <a:off x="1691640" y="5166360"/>
              <a:ext cx="9692640" cy="594360"/>
            </a:xfrm>
            <a:prstGeom prst="rect">
              <a:avLst/>
            </a:prstGeom>
            <a:noFill/>
            <a:ln/>
          </p:spPr>
          <p:txBody>
            <a:bodyPr wrap="square" rtlCol="0" anchor="t"/>
            <a:lstStyle/>
            <a:p>
              <a:pPr marL="0" indent="0">
                <a:lnSpc>
                  <a:spcPct val="115000"/>
                </a:lnSpc>
                <a:buNone/>
              </a:pPr>
              <a:r>
                <a:rPr lang="en-US" dirty="0">
                  <a:solidFill>
                    <a:srgbClr val="1B2733"/>
                  </a:solidFill>
                  <a:latin typeface="Calibri" pitchFamily="34" charset="0"/>
                  <a:ea typeface="Calibri" pitchFamily="34" charset="-122"/>
                  <a:cs typeface="Calibri" pitchFamily="34" charset="-120"/>
                </a:rPr>
                <a:t>The technical demo is explicitly connected to a real-world event: the 23andMe breach.</a:t>
              </a:r>
              <a:endParaRPr lang="en-US" dirty="0"/>
            </a:p>
          </p:txBody>
        </p:sp>
      </p:grpSp>
      <p:sp>
        <p:nvSpPr>
          <p:cNvPr id="19" name="Text 14"/>
          <p:cNvSpPr/>
          <p:nvPr/>
        </p:nvSpPr>
        <p:spPr>
          <a:xfrm>
            <a:off x="457200" y="6473952"/>
            <a:ext cx="6400800" cy="274320"/>
          </a:xfrm>
          <a:prstGeom prst="rect">
            <a:avLst/>
          </a:prstGeom>
          <a:noFill/>
          <a:ln/>
        </p:spPr>
        <p:txBody>
          <a:bodyPr wrap="square" rtlCol="0" anchor="ctr"/>
          <a:lstStyle/>
          <a:p>
            <a:pPr marL="0" indent="0" algn="l">
              <a:buNone/>
            </a:pPr>
            <a:r>
              <a:rPr lang="en-US" sz="1000" dirty="0">
                <a:solidFill>
                  <a:srgbClr val="5B6B77"/>
                </a:solidFill>
                <a:latin typeface="Calibri" pitchFamily="34" charset="0"/>
                <a:ea typeface="Calibri" pitchFamily="34" charset="-122"/>
                <a:cs typeface="Calibri" pitchFamily="34" charset="-120"/>
              </a:rPr>
              <a:t>Expected Outcome</a:t>
            </a:r>
            <a:endParaRPr lang="en-US" sz="1000" dirty="0"/>
          </a:p>
        </p:txBody>
      </p:sp>
      <p:sp>
        <p:nvSpPr>
          <p:cNvPr id="20" name="Text 15"/>
          <p:cNvSpPr/>
          <p:nvPr/>
        </p:nvSpPr>
        <p:spPr>
          <a:xfrm>
            <a:off x="7159752" y="6473952"/>
            <a:ext cx="393192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Computer Security · Genomic Data Privacy</a:t>
            </a:r>
            <a:endParaRPr lang="en-US" sz="1000" dirty="0"/>
          </a:p>
        </p:txBody>
      </p:sp>
      <p:sp>
        <p:nvSpPr>
          <p:cNvPr id="21" name="Text 16"/>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5B6B7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pic>
        <p:nvPicPr>
          <p:cNvPr id="2" name="Image 0" descr="C:\Users\Borshon\Downloads\genomic presentation\icons\shield.png"/>
          <p:cNvPicPr>
            <a:picLocks noChangeAspect="1"/>
          </p:cNvPicPr>
          <p:nvPr/>
        </p:nvPicPr>
        <p:blipFill>
          <a:blip r:embed="rId3">
            <a:alphaModFix amt="18000"/>
          </a:blip>
          <a:stretch>
            <a:fillRect/>
          </a:stretch>
        </p:blipFill>
        <p:spPr>
          <a:xfrm>
            <a:off x="-914400" y="3291840"/>
            <a:ext cx="3840480" cy="3840480"/>
          </a:xfrm>
          <a:prstGeom prst="rect">
            <a:avLst/>
          </a:prstGeom>
        </p:spPr>
      </p:pic>
      <p:sp>
        <p:nvSpPr>
          <p:cNvPr id="3" name="Text 0"/>
          <p:cNvSpPr/>
          <p:nvPr/>
        </p:nvSpPr>
        <p:spPr>
          <a:xfrm>
            <a:off x="822960" y="2286000"/>
            <a:ext cx="8229600" cy="914400"/>
          </a:xfrm>
          <a:prstGeom prst="rect">
            <a:avLst/>
          </a:prstGeom>
          <a:noFill/>
          <a:ln/>
        </p:spPr>
        <p:txBody>
          <a:bodyPr wrap="square" rtlCol="0" anchor="ctr"/>
          <a:lstStyle/>
          <a:p>
            <a:pPr marL="0" indent="0">
              <a:buNone/>
            </a:pPr>
            <a:r>
              <a:rPr lang="en-US" sz="11500" b="1" dirty="0">
                <a:solidFill>
                  <a:srgbClr val="FFFFFF"/>
                </a:solidFill>
                <a:latin typeface="Cambria" pitchFamily="34" charset="0"/>
                <a:ea typeface="Cambria" pitchFamily="34" charset="-122"/>
                <a:cs typeface="Cambria" pitchFamily="34" charset="-120"/>
              </a:rPr>
              <a:t>Thank You</a:t>
            </a:r>
            <a:endParaRPr lang="en-US" sz="11500" dirty="0"/>
          </a:p>
        </p:txBody>
      </p:sp>
      <p:sp>
        <p:nvSpPr>
          <p:cNvPr id="4" name="Text 1"/>
          <p:cNvSpPr/>
          <p:nvPr/>
        </p:nvSpPr>
        <p:spPr>
          <a:xfrm>
            <a:off x="822960" y="3334642"/>
            <a:ext cx="8229600" cy="548640"/>
          </a:xfrm>
          <a:prstGeom prst="rect">
            <a:avLst/>
          </a:prstGeom>
          <a:noFill/>
          <a:ln/>
        </p:spPr>
        <p:txBody>
          <a:bodyPr wrap="square" rtlCol="0" anchor="ctr"/>
          <a:lstStyle/>
          <a:p>
            <a:pPr marL="0" indent="0">
              <a:buNone/>
            </a:pPr>
            <a:r>
              <a:rPr lang="en-US" sz="3200" dirty="0">
                <a:solidFill>
                  <a:srgbClr val="2EC4B6"/>
                </a:solidFill>
                <a:latin typeface="Calibri" pitchFamily="34" charset="0"/>
                <a:ea typeface="Calibri" pitchFamily="34" charset="-122"/>
                <a:cs typeface="Calibri" pitchFamily="34" charset="-120"/>
              </a:rPr>
              <a:t>Questions &amp; Discussion</a:t>
            </a:r>
            <a:endParaRPr lang="en-US" sz="3200" dirty="0"/>
          </a:p>
        </p:txBody>
      </p:sp>
      <p:sp>
        <p:nvSpPr>
          <p:cNvPr id="5" name="Shape 2"/>
          <p:cNvSpPr/>
          <p:nvPr/>
        </p:nvSpPr>
        <p:spPr>
          <a:xfrm>
            <a:off x="2137166" y="4206240"/>
            <a:ext cx="7893022" cy="911482"/>
          </a:xfrm>
          <a:prstGeom prst="roundRect">
            <a:avLst>
              <a:gd name="adj" fmla="val 6000"/>
            </a:avLst>
          </a:prstGeom>
          <a:solidFill>
            <a:srgbClr val="15263A"/>
          </a:solidFill>
          <a:ln/>
        </p:spPr>
      </p:sp>
      <p:sp>
        <p:nvSpPr>
          <p:cNvPr id="6" name="Text 3"/>
          <p:cNvSpPr/>
          <p:nvPr/>
        </p:nvSpPr>
        <p:spPr>
          <a:xfrm>
            <a:off x="1097279" y="4434840"/>
            <a:ext cx="9972797" cy="914400"/>
          </a:xfrm>
          <a:prstGeom prst="rect">
            <a:avLst/>
          </a:prstGeom>
          <a:noFill/>
          <a:ln/>
        </p:spPr>
        <p:txBody>
          <a:bodyPr wrap="square" rtlCol="0" anchor="t"/>
          <a:lstStyle/>
          <a:p>
            <a:pPr marL="0" indent="0" algn="ctr">
              <a:lnSpc>
                <a:spcPct val="130000"/>
              </a:lnSpc>
              <a:buNone/>
            </a:pPr>
            <a:r>
              <a:rPr lang="en-US" sz="1600" b="1" dirty="0">
                <a:solidFill>
                  <a:srgbClr val="FFFFFF"/>
                </a:solidFill>
                <a:latin typeface="Calibri" pitchFamily="34" charset="0"/>
                <a:ea typeface="Calibri" pitchFamily="34" charset="-122"/>
                <a:cs typeface="Calibri" pitchFamily="34" charset="-120"/>
              </a:rPr>
              <a:t>Genomic Data Privacy: Simulating Re-identification Attacks and Testing Privacy Defenses</a:t>
            </a:r>
          </a:p>
          <a:p>
            <a:pPr marL="0" indent="0" algn="ctr">
              <a:lnSpc>
                <a:spcPct val="130000"/>
              </a:lnSpc>
              <a:buNone/>
            </a:pPr>
            <a:endParaRPr lang="en-US" sz="1600" dirty="0"/>
          </a:p>
        </p:txBody>
      </p:sp>
      <p:sp>
        <p:nvSpPr>
          <p:cNvPr id="7" name="Text 4"/>
          <p:cNvSpPr/>
          <p:nvPr/>
        </p:nvSpPr>
        <p:spPr>
          <a:xfrm>
            <a:off x="457200" y="6473952"/>
            <a:ext cx="5486400" cy="274320"/>
          </a:xfrm>
          <a:prstGeom prst="rect">
            <a:avLst/>
          </a:prstGeom>
          <a:noFill/>
          <a:ln/>
        </p:spPr>
        <p:txBody>
          <a:bodyPr wrap="square" rtlCol="0" anchor="ctr"/>
          <a:lstStyle/>
          <a:p>
            <a:pPr marL="0" indent="0">
              <a:buNone/>
            </a:pPr>
            <a:r>
              <a:rPr lang="en-US" sz="1000" dirty="0">
                <a:solidFill>
                  <a:srgbClr val="8FA3AF"/>
                </a:solidFill>
                <a:latin typeface="Calibri" pitchFamily="34" charset="0"/>
                <a:ea typeface="Calibri" pitchFamily="34" charset="-122"/>
                <a:cs typeface="Calibri" pitchFamily="34" charset="-120"/>
              </a:rPr>
              <a:t>Genomic Data Privacy Proposal</a:t>
            </a:r>
            <a:endParaRPr lang="en-US" sz="1000" dirty="0"/>
          </a:p>
        </p:txBody>
      </p:sp>
      <p:sp>
        <p:nvSpPr>
          <p:cNvPr id="8" name="Text 5"/>
          <p:cNvSpPr/>
          <p:nvPr/>
        </p:nvSpPr>
        <p:spPr>
          <a:xfrm>
            <a:off x="11365992" y="6473952"/>
            <a:ext cx="457200" cy="274320"/>
          </a:xfrm>
          <a:prstGeom prst="rect">
            <a:avLst/>
          </a:prstGeom>
          <a:noFill/>
          <a:ln/>
        </p:spPr>
        <p:txBody>
          <a:bodyPr wrap="square" rtlCol="0" anchor="ctr"/>
          <a:lstStyle/>
          <a:p>
            <a:pPr marL="0" indent="0" algn="r">
              <a:buNone/>
            </a:pPr>
            <a:r>
              <a:rPr lang="en-US" sz="1000" dirty="0">
                <a:solidFill>
                  <a:srgbClr val="8FA3A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1606</Words>
  <Application>Microsoft Office PowerPoint</Application>
  <PresentationFormat>Widescreen</PresentationFormat>
  <Paragraphs>211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Adnan Borshon</cp:lastModifiedBy>
  <cp:revision>3</cp:revision>
  <dcterms:created xsi:type="dcterms:W3CDTF">2026-08-03T16:32:15Z</dcterms:created>
  <dcterms:modified xsi:type="dcterms:W3CDTF">2026-08-03T17:37:24Z</dcterms:modified>
</cp:coreProperties>
</file>